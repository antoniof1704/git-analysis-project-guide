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741221-4B5A-42EA-A017-5EAE915C6B6B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DB9D6-C5E7-43D3-AF3C-6083B1558EE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827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BE65A-EB65-C534-2F07-053038129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56EE4-9383-5646-21FA-6D2B0BF14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65763-6A14-7A81-DFC4-753F2E9BA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24D5F-4264-3ED6-1783-D732E12A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C1884-7C90-0422-BF41-AB368FDA5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23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97707-B347-85C7-616E-A3D7BB9CA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77CC6-166E-803E-EFB7-831B350BD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6C0D5-9BA6-024A-7015-F5868EAA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1C55F-D916-9C39-E90F-C8662C4F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BCFAA-DB24-3086-E977-419CA353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873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B94FC-9536-09E6-AF90-FF57B188F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EEC50-0595-3DF4-F9DF-4B35E1A4F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455C7-7435-083D-C7E7-8BDB48364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E5933-62E5-0A25-D31D-46AAED6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DB90C-3B91-C7CC-BC81-11949FAF3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702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300B-3DF8-E3A6-E444-2F298B9B3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67432-4591-A4EF-E57D-D87ABA37A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E3172-8F9A-E3E6-242F-BFA9DCD27B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85880C-A907-E179-1895-7FAC4B70C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1ADF3-40E7-78D0-B435-BCE41A8B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8EA002-DC22-AB18-93CC-F091E0E03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069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8D527-5140-94E8-CE31-7502DF4F7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DE9B-6217-B856-5AC5-E3B8B2981C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6AD50-B379-893C-D0F9-ABD5745B43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7139CB-E514-5FD1-789F-C0E0B9C5C7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79422D-53B7-DCAE-6591-A1D7E0B8C9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B14C0D-41C2-0767-08ED-6F4C1C06F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62E24-DEB2-8D08-D6F4-96C1B99EC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E696C3-DA4F-6872-EE5C-EB28E3488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93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0BEBF-A0DF-A7C2-ED7C-F069D6E71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A218C3-0033-CD29-E8E1-7EEB633C8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A4AE8F-EB29-4C46-0592-8C2C79FC7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E87E94-8E5C-4ADD-BDCF-BAEB81680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135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24947-51AB-426C-55A7-F01F9035D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5C675-22C9-9252-27FA-2BDFD2F6E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1414-DA89-1887-AC1F-D53EE3F07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335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987DA-3B78-5980-98ED-5B8ECFBA2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264B3-F256-E3BA-053D-A6A0CC4E6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05D98A-DB30-0B62-EB5B-18F52850BE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2AF51-5A12-E9FD-EC0F-056EE58AF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8E991-FB82-1B0C-210E-FCFF45CD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10292E-EDAB-2963-6604-7ABC3680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387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1CD9D-095B-4949-5454-5C6ECC5B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32E33C-FE7C-0DCC-5205-C685433F8F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312A2-DB96-36B2-0415-0D5BC9200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7FDE3-2D56-6F0E-B63A-FB52130B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F40C4-769A-9149-6D3E-16E184E76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EAAB81-7531-E795-A244-921C2E82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15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0CBA8-BA81-67C2-3293-749F6F413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C6A06B-6068-C058-8BE7-40642B633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BD5B6-3B54-7E9E-5D63-56DE4236F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6A08F-7CC1-A91C-FFE2-B56FAA8F9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192A75-5511-58A2-FE9B-D050D247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9698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CE63FE-AAD2-4E56-BC10-AE5D86525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B49972-D07A-94D8-9091-7889147D1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F92BF-DD82-C5D0-2AE0-41900F3B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892DE-DE3A-9F43-4C42-E4F78E867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90F4C-0164-E5F7-1929-C1E35384C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639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FDEC45-B362-49C4-5EF5-7922C44A3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1C037-9956-9458-A92F-6ED381617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31660-6796-219C-41AF-02466C353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424183-C19A-4540-B56E-84A654890706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66AE0-A6A3-28AE-3296-E922A36E0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D4F04-1CF7-3893-D2B6-0079D7C102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31C3BB-B848-4956-8BEA-E117268C4D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456EBB-63E5-B31B-DF68-F1A4280B871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36412" y="6642100"/>
            <a:ext cx="5445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049675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0DA1-B2E3-132E-3A66-F71887B8B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GitLab Rebase Walkthrough</a:t>
            </a:r>
          </a:p>
        </p:txBody>
      </p:sp>
    </p:spTree>
    <p:extLst>
      <p:ext uri="{BB962C8B-B14F-4D97-AF65-F5344CB8AC3E}">
        <p14:creationId xmlns:p14="http://schemas.microsoft.com/office/powerpoint/2010/main" val="534929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E94501-1397-6D32-6D7B-40FA358064D7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What is Rebasing &amp; Why is it Needed?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8F42230F-8260-CDE5-A45A-55F71E798F52}"/>
              </a:ext>
            </a:extLst>
          </p:cNvPr>
          <p:cNvSpPr txBox="1">
            <a:spLocks/>
          </p:cNvSpPr>
          <p:nvPr/>
        </p:nvSpPr>
        <p:spPr>
          <a:xfrm>
            <a:off x="681038" y="1606012"/>
            <a:ext cx="11164887" cy="4566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1800" dirty="0"/>
              <a:t>Rebasing </a:t>
            </a:r>
            <a:r>
              <a:rPr lang="en-GB" sz="1800" b="1" dirty="0">
                <a:solidFill>
                  <a:schemeClr val="accent1"/>
                </a:solidFill>
              </a:rPr>
              <a:t>rewrites the commit history </a:t>
            </a:r>
            <a:r>
              <a:rPr lang="en-GB" sz="1800" dirty="0"/>
              <a:t>of your feature branch so it sits on top of the latest version of the dev branch, incorporating any changes made since you branched off.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dirty="0"/>
              <a:t>Over time, your branch will </a:t>
            </a:r>
            <a:r>
              <a:rPr lang="en-GB" sz="1800" b="1" dirty="0">
                <a:solidFill>
                  <a:schemeClr val="accent1"/>
                </a:solidFill>
              </a:rPr>
              <a:t>diverge</a:t>
            </a:r>
            <a:r>
              <a:rPr lang="en-GB" sz="1800" dirty="0"/>
              <a:t> from dev as new commits and merges are added. The </a:t>
            </a:r>
            <a:r>
              <a:rPr lang="en-GB" sz="1800" b="1" dirty="0">
                <a:solidFill>
                  <a:schemeClr val="accent1"/>
                </a:solidFill>
              </a:rPr>
              <a:t>longer</a:t>
            </a:r>
            <a:r>
              <a:rPr lang="en-GB" sz="1800" dirty="0"/>
              <a:t> the branch is open, the </a:t>
            </a:r>
            <a:r>
              <a:rPr lang="en-GB" sz="1800" b="1" dirty="0">
                <a:solidFill>
                  <a:schemeClr val="accent1"/>
                </a:solidFill>
              </a:rPr>
              <a:t>greater this divergence becomes</a:t>
            </a:r>
            <a:r>
              <a:rPr lang="en-GB" sz="1800" dirty="0"/>
              <a:t>.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dirty="0"/>
              <a:t>If a branch is significantly out of date: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It may not merge cleanly via the GitLab merge request UI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It is more likely to cause merge conflicts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You may need to rebase locally via the terminal and resolve conflicts manually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In short</a:t>
            </a:r>
            <a:r>
              <a:rPr lang="en-GB" sz="1800" dirty="0"/>
              <a:t>: Rebasing keeps your branch up to date and ensures it can be merged back into dev smoothly</a:t>
            </a:r>
          </a:p>
        </p:txBody>
      </p:sp>
    </p:spTree>
    <p:extLst>
      <p:ext uri="{BB962C8B-B14F-4D97-AF65-F5344CB8AC3E}">
        <p14:creationId xmlns:p14="http://schemas.microsoft.com/office/powerpoint/2010/main" val="38237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D5BD6-EBE5-1A4F-7162-CFD6EF7E9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8C1E-B1D2-93BA-3075-A416A8FA6148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How Does This Differ to a Merge?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FCC60-FF69-A385-A703-315A5B3523B3}"/>
              </a:ext>
            </a:extLst>
          </p:cNvPr>
          <p:cNvSpPr txBox="1">
            <a:spLocks/>
          </p:cNvSpPr>
          <p:nvPr/>
        </p:nvSpPr>
        <p:spPr>
          <a:xfrm>
            <a:off x="681039" y="1606012"/>
            <a:ext cx="10963094" cy="46166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2000" b="1" dirty="0">
                <a:solidFill>
                  <a:schemeClr val="accent1"/>
                </a:solidFill>
              </a:rPr>
              <a:t>Merge</a:t>
            </a:r>
            <a:r>
              <a:rPr lang="en-GB" sz="2000" dirty="0"/>
              <a:t> combines histories without changing them. See below: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046CB7-3482-EB2A-9801-9A12F3178A8E}"/>
              </a:ext>
            </a:extLst>
          </p:cNvPr>
          <p:cNvSpPr/>
          <p:nvPr/>
        </p:nvSpPr>
        <p:spPr>
          <a:xfrm>
            <a:off x="1379931" y="2264619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 (7b41d8a)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B4A1DCC-4E29-17F6-28EA-E615FBA532D6}"/>
              </a:ext>
            </a:extLst>
          </p:cNvPr>
          <p:cNvSpPr/>
          <p:nvPr/>
        </p:nvSpPr>
        <p:spPr>
          <a:xfrm>
            <a:off x="6324747" y="2811918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chng2 (f2a91de)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E998B0-D2DB-F12A-132A-505BA98FB925}"/>
              </a:ext>
            </a:extLst>
          </p:cNvPr>
          <p:cNvSpPr/>
          <p:nvPr/>
        </p:nvSpPr>
        <p:spPr>
          <a:xfrm>
            <a:off x="3824500" y="226461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 (</a:t>
            </a:r>
            <a:r>
              <a:rPr lang="en-GB" dirty="0">
                <a:highlight>
                  <a:srgbClr val="FF00FF"/>
                </a:highlight>
              </a:rPr>
              <a:t>5d8b0ac</a:t>
            </a:r>
            <a:r>
              <a:rPr lang="en-GB" dirty="0"/>
              <a:t>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829490A-524B-8035-D639-6AFA97455167}"/>
              </a:ext>
            </a:extLst>
          </p:cNvPr>
          <p:cNvSpPr/>
          <p:nvPr/>
        </p:nvSpPr>
        <p:spPr>
          <a:xfrm>
            <a:off x="6269069" y="226461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dev (</a:t>
            </a:r>
            <a:r>
              <a:rPr lang="en-GB" dirty="0">
                <a:highlight>
                  <a:srgbClr val="FF00FF"/>
                </a:highlight>
              </a:rPr>
              <a:t>b17d6c4</a:t>
            </a:r>
            <a:r>
              <a:rPr lang="en-GB" dirty="0"/>
              <a:t>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D921A9-1E75-549F-1EC9-80A0629EBA15}"/>
              </a:ext>
            </a:extLst>
          </p:cNvPr>
          <p:cNvSpPr/>
          <p:nvPr/>
        </p:nvSpPr>
        <p:spPr>
          <a:xfrm>
            <a:off x="3824500" y="2811917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chng2 (9af03e8)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0726DA2-0422-9B82-93C6-FD8D88FB94A1}"/>
              </a:ext>
            </a:extLst>
          </p:cNvPr>
          <p:cNvSpPr/>
          <p:nvPr/>
        </p:nvSpPr>
        <p:spPr>
          <a:xfrm>
            <a:off x="8713638" y="226452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(2c8e1fa)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B379C37-7F8D-03DF-4B4A-78EC799C4C2E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25901" y="2430354"/>
            <a:ext cx="39859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5988A8-DF0C-076E-6C30-C10D698B106B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870470" y="2430354"/>
            <a:ext cx="3985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FAAECE2-8C6E-CEB4-E2F6-CA63DEF63A1C}"/>
              </a:ext>
            </a:extLst>
          </p:cNvPr>
          <p:cNvCxnSpPr>
            <a:stCxn id="7" idx="3"/>
            <a:endCxn id="9" idx="1"/>
          </p:cNvCxnSpPr>
          <p:nvPr/>
        </p:nvCxnSpPr>
        <p:spPr>
          <a:xfrm flipV="1">
            <a:off x="8315039" y="2430264"/>
            <a:ext cx="398599" cy="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7FF12ED-0B19-C802-0AD8-B68322C40770}"/>
              </a:ext>
            </a:extLst>
          </p:cNvPr>
          <p:cNvCxnSpPr>
            <a:stCxn id="4" idx="2"/>
            <a:endCxn id="8" idx="1"/>
          </p:cNvCxnSpPr>
          <p:nvPr/>
        </p:nvCxnSpPr>
        <p:spPr>
          <a:xfrm>
            <a:off x="2402916" y="2596090"/>
            <a:ext cx="1421584" cy="381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9214156-9931-B984-B0DC-1BF4753D5239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5870470" y="2977653"/>
            <a:ext cx="45427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715790-3DBB-0217-5186-51F7FD0A196E}"/>
              </a:ext>
            </a:extLst>
          </p:cNvPr>
          <p:cNvCxnSpPr>
            <a:stCxn id="5" idx="3"/>
            <a:endCxn id="9" idx="2"/>
          </p:cNvCxnSpPr>
          <p:nvPr/>
        </p:nvCxnSpPr>
        <p:spPr>
          <a:xfrm flipV="1">
            <a:off x="8370717" y="2595999"/>
            <a:ext cx="1365906" cy="381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31A8671-7EF9-E3B3-F236-5A759665F9E9}"/>
              </a:ext>
            </a:extLst>
          </p:cNvPr>
          <p:cNvSpPr txBox="1">
            <a:spLocks/>
          </p:cNvSpPr>
          <p:nvPr/>
        </p:nvSpPr>
        <p:spPr>
          <a:xfrm>
            <a:off x="681037" y="3384778"/>
            <a:ext cx="10963094" cy="186940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52000" indent="-252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accent1"/>
                </a:solidFill>
                <a:latin typeface="+mn-lt"/>
              </a:rPr>
              <a:t>Rebase </a:t>
            </a:r>
            <a:r>
              <a:rPr lang="en-GB" sz="2000" dirty="0">
                <a:latin typeface="+mn-lt"/>
              </a:rPr>
              <a:t>rewrites history to keep your branch up to date, by: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>
                <a:latin typeface="+mn-lt"/>
              </a:rPr>
              <a:t>Temporarily removes your commits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>
                <a:latin typeface="+mn-lt"/>
              </a:rPr>
              <a:t>Applies latest changes from dev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2000" dirty="0">
                <a:latin typeface="+mn-lt"/>
              </a:rPr>
              <a:t>Reapplies your commits on top</a:t>
            </a:r>
            <a:endParaRPr lang="en-GB" dirty="0">
              <a:latin typeface="+mn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2737935-4886-F23F-842B-FD8CB61DC11E}"/>
              </a:ext>
            </a:extLst>
          </p:cNvPr>
          <p:cNvSpPr/>
          <p:nvPr/>
        </p:nvSpPr>
        <p:spPr>
          <a:xfrm>
            <a:off x="1921657" y="5514866"/>
            <a:ext cx="1560204" cy="51588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chng2 (7b41d8a)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415FAF5-2851-9255-089F-32F46F16AE7D}"/>
              </a:ext>
            </a:extLst>
          </p:cNvPr>
          <p:cNvSpPr/>
          <p:nvPr/>
        </p:nvSpPr>
        <p:spPr>
          <a:xfrm>
            <a:off x="8956521" y="5516883"/>
            <a:ext cx="1560204" cy="525987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chng2 (f2a91de*)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416ED8-23EE-F513-0822-5762993CDAB8}"/>
              </a:ext>
            </a:extLst>
          </p:cNvPr>
          <p:cNvSpPr/>
          <p:nvPr/>
        </p:nvSpPr>
        <p:spPr>
          <a:xfrm>
            <a:off x="3680373" y="5515312"/>
            <a:ext cx="1560204" cy="525495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chng2 (</a:t>
            </a:r>
            <a:r>
              <a:rPr lang="en-GB" sz="1600" dirty="0">
                <a:highlight>
                  <a:srgbClr val="FF00FF"/>
                </a:highlight>
              </a:rPr>
              <a:t>5d8b0ac</a:t>
            </a:r>
            <a:r>
              <a:rPr lang="en-GB" sz="1600" dirty="0"/>
              <a:t>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46AD34B-68F4-B92B-46A9-955BB29F4589}"/>
              </a:ext>
            </a:extLst>
          </p:cNvPr>
          <p:cNvSpPr/>
          <p:nvPr/>
        </p:nvSpPr>
        <p:spPr>
          <a:xfrm>
            <a:off x="5439089" y="5514866"/>
            <a:ext cx="1560204" cy="525942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chng2 (</a:t>
            </a:r>
            <a:r>
              <a:rPr lang="en-GB" sz="1600" dirty="0">
                <a:highlight>
                  <a:srgbClr val="FF00FF"/>
                </a:highlight>
              </a:rPr>
              <a:t>b17d6c4</a:t>
            </a:r>
            <a:r>
              <a:rPr lang="en-GB" sz="1600" dirty="0"/>
              <a:t>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5E904D2-93B6-D0F3-5AF9-42C1F0454029}"/>
              </a:ext>
            </a:extLst>
          </p:cNvPr>
          <p:cNvSpPr/>
          <p:nvPr/>
        </p:nvSpPr>
        <p:spPr>
          <a:xfrm>
            <a:off x="7197805" y="5516883"/>
            <a:ext cx="1560204" cy="52598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chng2 (9af03e8*)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1BC642C-F214-EFFC-A774-6C92297F97BB}"/>
              </a:ext>
            </a:extLst>
          </p:cNvPr>
          <p:cNvCxnSpPr>
            <a:cxnSpLocks/>
            <a:stCxn id="17" idx="3"/>
            <a:endCxn id="19" idx="1"/>
          </p:cNvCxnSpPr>
          <p:nvPr/>
        </p:nvCxnSpPr>
        <p:spPr>
          <a:xfrm>
            <a:off x="3481861" y="5772808"/>
            <a:ext cx="198512" cy="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DF4C19B-A6AC-E639-A665-0A73052F84D8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 flipV="1">
            <a:off x="5240577" y="5777837"/>
            <a:ext cx="198512" cy="2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0F9C4F-AE92-051E-C185-17B7220637AD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6999293" y="5777814"/>
            <a:ext cx="198512" cy="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D18AE88-FA4B-126B-F2F7-64ED09D113E8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>
            <a:off x="8758009" y="5779877"/>
            <a:ext cx="1985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AD970D7-4B69-51D4-A26B-BF2B77648998}"/>
              </a:ext>
            </a:extLst>
          </p:cNvPr>
          <p:cNvSpPr txBox="1"/>
          <p:nvPr/>
        </p:nvSpPr>
        <p:spPr>
          <a:xfrm>
            <a:off x="1921657" y="6092014"/>
            <a:ext cx="8732217" cy="16445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000" i="1" dirty="0">
                <a:latin typeface="Arial" panose="020B0604020202020204" pitchFamily="34" charset="0"/>
                <a:cs typeface="Arial" panose="020B0604020202020204" pitchFamily="34" charset="0"/>
              </a:rPr>
              <a:t>* Commit IDs change when commits are reapplied, but for simplicity they have been kept the same in this example to demonstrate how rebasing works.</a:t>
            </a:r>
          </a:p>
        </p:txBody>
      </p:sp>
    </p:spTree>
    <p:extLst>
      <p:ext uri="{BB962C8B-B14F-4D97-AF65-F5344CB8AC3E}">
        <p14:creationId xmlns:p14="http://schemas.microsoft.com/office/powerpoint/2010/main" val="648592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6FC44-F175-0F8D-1469-D109B566B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3C76-4291-E1BB-3330-C639AE91DA52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Rebasing Example Repository</a:t>
            </a:r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99D4697-AE2E-8276-0707-2C6EB9F112B2}"/>
              </a:ext>
            </a:extLst>
          </p:cNvPr>
          <p:cNvSpPr/>
          <p:nvPr/>
        </p:nvSpPr>
        <p:spPr>
          <a:xfrm>
            <a:off x="3716888" y="1767246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6323849-D33A-50BE-A212-16DCB1439243}"/>
              </a:ext>
            </a:extLst>
          </p:cNvPr>
          <p:cNvSpPr/>
          <p:nvPr/>
        </p:nvSpPr>
        <p:spPr>
          <a:xfrm>
            <a:off x="5762858" y="2302132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(c9e2f14)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E6E33F6-90E8-BCFD-D188-790E37C77A95}"/>
              </a:ext>
            </a:extLst>
          </p:cNvPr>
          <p:cNvSpPr/>
          <p:nvPr/>
        </p:nvSpPr>
        <p:spPr>
          <a:xfrm>
            <a:off x="5762858" y="3997184"/>
            <a:ext cx="2045970" cy="331471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edit1 (0e4fa92)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CDF6751-A2C7-818B-B94A-B64A0A567154}"/>
              </a:ext>
            </a:extLst>
          </p:cNvPr>
          <p:cNvSpPr/>
          <p:nvPr/>
        </p:nvSpPr>
        <p:spPr>
          <a:xfrm>
            <a:off x="7808828" y="3316558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(f2a91de)</a:t>
            </a: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7EEF110-172C-79A8-570A-EF9EFC454747}"/>
              </a:ext>
            </a:extLst>
          </p:cNvPr>
          <p:cNvCxnSpPr>
            <a:cxnSpLocks/>
          </p:cNvCxnSpPr>
          <p:nvPr/>
        </p:nvCxnSpPr>
        <p:spPr>
          <a:xfrm>
            <a:off x="5762858" y="1932982"/>
            <a:ext cx="1022985" cy="36915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77F698C-D9FF-4890-7667-F8BB3AEF4947}"/>
              </a:ext>
            </a:extLst>
          </p:cNvPr>
          <p:cNvCxnSpPr>
            <a:cxnSpLocks/>
          </p:cNvCxnSpPr>
          <p:nvPr/>
        </p:nvCxnSpPr>
        <p:spPr>
          <a:xfrm>
            <a:off x="6785843" y="2633603"/>
            <a:ext cx="0" cy="1363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E1BD95-63C9-BE21-F85E-3DCFB8436467}"/>
              </a:ext>
            </a:extLst>
          </p:cNvPr>
          <p:cNvSpPr/>
          <p:nvPr/>
        </p:nvSpPr>
        <p:spPr>
          <a:xfrm>
            <a:off x="3716888" y="285114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(5d8b0ac)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9BD5DA3-BCD0-CAE4-DD73-E59E88F904AB}"/>
              </a:ext>
            </a:extLst>
          </p:cNvPr>
          <p:cNvCxnSpPr>
            <a:cxnSpLocks/>
          </p:cNvCxnSpPr>
          <p:nvPr/>
        </p:nvCxnSpPr>
        <p:spPr>
          <a:xfrm>
            <a:off x="4739873" y="2098717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D70EEE2C-DFDF-8006-3307-78DC50684D3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62858" y="1932982"/>
            <a:ext cx="3068955" cy="1383576"/>
          </a:xfrm>
          <a:prstGeom prst="bentConnector3">
            <a:avLst>
              <a:gd name="adj1" fmla="val 9978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DC2A0B8-6B7B-EE12-C190-67DAA175C587}"/>
              </a:ext>
            </a:extLst>
          </p:cNvPr>
          <p:cNvSpPr/>
          <p:nvPr/>
        </p:nvSpPr>
        <p:spPr>
          <a:xfrm>
            <a:off x="3716888" y="4527891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(b17d6c4)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5EB059-85FC-BB5D-C4D6-6D06B02DBABE}"/>
              </a:ext>
            </a:extLst>
          </p:cNvPr>
          <p:cNvCxnSpPr>
            <a:cxnSpLocks/>
          </p:cNvCxnSpPr>
          <p:nvPr/>
        </p:nvCxnSpPr>
        <p:spPr>
          <a:xfrm>
            <a:off x="4739873" y="3182619"/>
            <a:ext cx="0" cy="134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E642C82C-EA8F-4981-9359-9D2B01142775}"/>
              </a:ext>
            </a:extLst>
          </p:cNvPr>
          <p:cNvCxnSpPr>
            <a:cxnSpLocks/>
          </p:cNvCxnSpPr>
          <p:nvPr/>
        </p:nvCxnSpPr>
        <p:spPr>
          <a:xfrm rot="5400000">
            <a:off x="6091865" y="3999649"/>
            <a:ext cx="364972" cy="10229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D197DD7-32DF-73FA-06C0-A6234952B58D}"/>
              </a:ext>
            </a:extLst>
          </p:cNvPr>
          <p:cNvSpPr/>
          <p:nvPr/>
        </p:nvSpPr>
        <p:spPr>
          <a:xfrm>
            <a:off x="7808828" y="4986047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(9af03e8)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F404300-C27F-017F-1FDA-FEA3AD54F789}"/>
              </a:ext>
            </a:extLst>
          </p:cNvPr>
          <p:cNvSpPr/>
          <p:nvPr/>
        </p:nvSpPr>
        <p:spPr>
          <a:xfrm>
            <a:off x="3716888" y="5407753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(2c8e1fa)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2DD2039-4579-BBC7-99B7-B1A8AEE3034C}"/>
              </a:ext>
            </a:extLst>
          </p:cNvPr>
          <p:cNvCxnSpPr>
            <a:cxnSpLocks/>
          </p:cNvCxnSpPr>
          <p:nvPr/>
        </p:nvCxnSpPr>
        <p:spPr>
          <a:xfrm>
            <a:off x="8831813" y="3648029"/>
            <a:ext cx="0" cy="133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9FBDA18-0CBC-4661-57C3-DF73187B05C0}"/>
              </a:ext>
            </a:extLst>
          </p:cNvPr>
          <p:cNvCxnSpPr>
            <a:cxnSpLocks/>
          </p:cNvCxnSpPr>
          <p:nvPr/>
        </p:nvCxnSpPr>
        <p:spPr>
          <a:xfrm rot="5400000">
            <a:off x="7169351" y="3911026"/>
            <a:ext cx="255971" cy="306895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DB5949D-554B-FB25-0D91-5645DA14A26A}"/>
              </a:ext>
            </a:extLst>
          </p:cNvPr>
          <p:cNvCxnSpPr>
            <a:cxnSpLocks/>
          </p:cNvCxnSpPr>
          <p:nvPr/>
        </p:nvCxnSpPr>
        <p:spPr>
          <a:xfrm>
            <a:off x="4739873" y="4859362"/>
            <a:ext cx="0" cy="548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9B13F73-AFBF-2854-EA90-6FB3CDE624EB}"/>
              </a:ext>
            </a:extLst>
          </p:cNvPr>
          <p:cNvSpPr txBox="1"/>
          <p:nvPr/>
        </p:nvSpPr>
        <p:spPr>
          <a:xfrm>
            <a:off x="9292590" y="548640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1F8C926-D371-52E7-F97C-1BF2B430C52F}"/>
              </a:ext>
            </a:extLst>
          </p:cNvPr>
          <p:cNvSpPr/>
          <p:nvPr/>
        </p:nvSpPr>
        <p:spPr>
          <a:xfrm>
            <a:off x="9292590" y="913036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4A752D0-5559-F2A9-B78B-1FD04C932112}"/>
              </a:ext>
            </a:extLst>
          </p:cNvPr>
          <p:cNvSpPr/>
          <p:nvPr/>
        </p:nvSpPr>
        <p:spPr>
          <a:xfrm>
            <a:off x="1655004" y="2309196"/>
            <a:ext cx="2045970" cy="331471"/>
          </a:xfrm>
          <a:prstGeom prst="roundRect">
            <a:avLst/>
          </a:prstGeom>
          <a:solidFill>
            <a:srgbClr val="ED7D31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/>
              <a:t>test3 (</a:t>
            </a:r>
            <a:r>
              <a:rPr lang="en-GB">
                <a:latin typeface="Arial"/>
                <a:cs typeface="Arial"/>
              </a:rPr>
              <a:t>e83b7a4</a:t>
            </a:r>
            <a:r>
              <a:rPr lang="en-GB"/>
              <a:t>)</a:t>
            </a:r>
            <a:endParaRPr lang="en-US">
              <a:cs typeface="Arial"/>
            </a:endParaRP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E5E8DDCD-E848-9C87-D8DF-814E327CDA6D}"/>
              </a:ext>
            </a:extLst>
          </p:cNvPr>
          <p:cNvCxnSpPr>
            <a:cxnSpLocks/>
          </p:cNvCxnSpPr>
          <p:nvPr/>
        </p:nvCxnSpPr>
        <p:spPr>
          <a:xfrm flipH="1">
            <a:off x="2684488" y="1932981"/>
            <a:ext cx="1016486" cy="3467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AF34808C-4F9B-1FCA-DACC-86BEC45007CC}"/>
              </a:ext>
            </a:extLst>
          </p:cNvPr>
          <p:cNvCxnSpPr>
            <a:stCxn id="22" idx="2"/>
            <a:endCxn id="9" idx="1"/>
          </p:cNvCxnSpPr>
          <p:nvPr/>
        </p:nvCxnSpPr>
        <p:spPr>
          <a:xfrm rot="16200000" flipH="1">
            <a:off x="3009330" y="2309325"/>
            <a:ext cx="376217" cy="10388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717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6B513-CED5-AC08-1A08-4A8B98D10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9C0FC-CF40-D4EB-BF81-A6338D4A775A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Rebase Here!</a:t>
            </a:r>
            <a:endParaRPr lang="en-GB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3B4B860-20E9-C1D3-848B-11DA91B4D441}"/>
              </a:ext>
            </a:extLst>
          </p:cNvPr>
          <p:cNvSpPr/>
          <p:nvPr/>
        </p:nvSpPr>
        <p:spPr>
          <a:xfrm>
            <a:off x="3716888" y="1767246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(7b41d8a)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28A582-5697-6D5C-14E2-2F527443D1F4}"/>
              </a:ext>
            </a:extLst>
          </p:cNvPr>
          <p:cNvSpPr/>
          <p:nvPr/>
        </p:nvSpPr>
        <p:spPr>
          <a:xfrm>
            <a:off x="7808828" y="3316558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(f2a91de)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D0EA785-ACAC-67FA-1864-71C19E82B06B}"/>
              </a:ext>
            </a:extLst>
          </p:cNvPr>
          <p:cNvSpPr/>
          <p:nvPr/>
        </p:nvSpPr>
        <p:spPr>
          <a:xfrm>
            <a:off x="3716888" y="2851148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(5d8b0ac)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C3787AB-2E3E-C7A7-2559-99448D752775}"/>
              </a:ext>
            </a:extLst>
          </p:cNvPr>
          <p:cNvCxnSpPr>
            <a:cxnSpLocks/>
          </p:cNvCxnSpPr>
          <p:nvPr/>
        </p:nvCxnSpPr>
        <p:spPr>
          <a:xfrm>
            <a:off x="4739873" y="2098717"/>
            <a:ext cx="0" cy="752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62CEF78-7876-2905-2AAB-3C768C15D7B0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5762858" y="1932982"/>
            <a:ext cx="3068955" cy="1383576"/>
          </a:xfrm>
          <a:prstGeom prst="bentConnector3">
            <a:avLst>
              <a:gd name="adj1" fmla="val 9978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2DADE92-E5BA-F94C-F0DB-A1CCF90F4488}"/>
              </a:ext>
            </a:extLst>
          </p:cNvPr>
          <p:cNvSpPr/>
          <p:nvPr/>
        </p:nvSpPr>
        <p:spPr>
          <a:xfrm>
            <a:off x="3716888" y="4527891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(b17d6c4)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4755246-8D07-3F09-2C34-58E35602F40A}"/>
              </a:ext>
            </a:extLst>
          </p:cNvPr>
          <p:cNvCxnSpPr>
            <a:cxnSpLocks/>
          </p:cNvCxnSpPr>
          <p:nvPr/>
        </p:nvCxnSpPr>
        <p:spPr>
          <a:xfrm>
            <a:off x="4739873" y="3182619"/>
            <a:ext cx="0" cy="1345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C09C24-CAB9-9979-C60D-3CCC363D8C6F}"/>
              </a:ext>
            </a:extLst>
          </p:cNvPr>
          <p:cNvSpPr/>
          <p:nvPr/>
        </p:nvSpPr>
        <p:spPr>
          <a:xfrm>
            <a:off x="7808828" y="4986047"/>
            <a:ext cx="2045970" cy="33147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chng2 (9af03e8)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ABB2410-FB75-246B-11C1-155B94FF9505}"/>
              </a:ext>
            </a:extLst>
          </p:cNvPr>
          <p:cNvSpPr/>
          <p:nvPr/>
        </p:nvSpPr>
        <p:spPr>
          <a:xfrm>
            <a:off x="3716888" y="5407753"/>
            <a:ext cx="2045970" cy="331471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dev (2c8e1fa)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5B709B4-0D20-798B-89C2-0F38B3F192DB}"/>
              </a:ext>
            </a:extLst>
          </p:cNvPr>
          <p:cNvCxnSpPr>
            <a:cxnSpLocks/>
          </p:cNvCxnSpPr>
          <p:nvPr/>
        </p:nvCxnSpPr>
        <p:spPr>
          <a:xfrm>
            <a:off x="8831813" y="3648029"/>
            <a:ext cx="0" cy="133801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B018138-F81D-860B-8376-BE8EE8232950}"/>
              </a:ext>
            </a:extLst>
          </p:cNvPr>
          <p:cNvCxnSpPr>
            <a:cxnSpLocks/>
          </p:cNvCxnSpPr>
          <p:nvPr/>
        </p:nvCxnSpPr>
        <p:spPr>
          <a:xfrm rot="5400000">
            <a:off x="7169351" y="3911026"/>
            <a:ext cx="255971" cy="306895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B314A2-BC1A-16D4-6858-7C5963B57132}"/>
              </a:ext>
            </a:extLst>
          </p:cNvPr>
          <p:cNvCxnSpPr>
            <a:cxnSpLocks/>
          </p:cNvCxnSpPr>
          <p:nvPr/>
        </p:nvCxnSpPr>
        <p:spPr>
          <a:xfrm>
            <a:off x="4739873" y="4859362"/>
            <a:ext cx="0" cy="548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23D8BE0-A140-C356-9D5A-EABF74EBD4F5}"/>
              </a:ext>
            </a:extLst>
          </p:cNvPr>
          <p:cNvSpPr txBox="1"/>
          <p:nvPr/>
        </p:nvSpPr>
        <p:spPr>
          <a:xfrm>
            <a:off x="9292590" y="548640"/>
            <a:ext cx="2218373" cy="2971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000"/>
              </a:spcBef>
            </a:pPr>
            <a:r>
              <a:rPr lang="en-GB" sz="1600" b="1">
                <a:latin typeface="Arial" panose="020B0604020202020204" pitchFamily="34" charset="0"/>
                <a:cs typeface="Arial" panose="020B0604020202020204" pitchFamily="34" charset="0"/>
              </a:rPr>
              <a:t>Legend: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3414FCE-AAA8-D65D-0B87-EEDFA768F168}"/>
              </a:ext>
            </a:extLst>
          </p:cNvPr>
          <p:cNvSpPr/>
          <p:nvPr/>
        </p:nvSpPr>
        <p:spPr>
          <a:xfrm>
            <a:off x="9292590" y="913036"/>
            <a:ext cx="2045970" cy="3314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i="1"/>
              <a:t>Branch Name </a:t>
            </a:r>
            <a:r>
              <a:rPr lang="en-GB" sz="1200"/>
              <a:t>(</a:t>
            </a:r>
            <a:r>
              <a:rPr lang="en-GB" sz="1200" i="1"/>
              <a:t>commit ID</a:t>
            </a:r>
            <a:r>
              <a:rPr lang="en-GB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12461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B9A8-9DC2-3412-A3A2-559039238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1B0F8-7315-7749-C809-6019E45F2E22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Why Rebase Before Merging?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3FEC8E-4451-3034-CDA3-A87404446B5D}"/>
              </a:ext>
            </a:extLst>
          </p:cNvPr>
          <p:cNvSpPr txBox="1">
            <a:spLocks/>
          </p:cNvSpPr>
          <p:nvPr/>
        </p:nvSpPr>
        <p:spPr>
          <a:xfrm>
            <a:off x="681039" y="1606012"/>
            <a:ext cx="10963094" cy="42392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1800" dirty="0"/>
              <a:t>In this example, attempting to merge the </a:t>
            </a:r>
            <a:r>
              <a:rPr lang="en-GB" sz="1800" b="1" dirty="0">
                <a:solidFill>
                  <a:schemeClr val="accent1"/>
                </a:solidFill>
              </a:rPr>
              <a:t>chng2</a:t>
            </a:r>
            <a:r>
              <a:rPr lang="en-GB" sz="1800" dirty="0"/>
              <a:t> branch into dev without rebasing may fail, as </a:t>
            </a:r>
            <a:r>
              <a:rPr lang="en-GB" sz="1800" b="1" dirty="0">
                <a:solidFill>
                  <a:schemeClr val="accent1"/>
                </a:solidFill>
              </a:rPr>
              <a:t>chng2</a:t>
            </a:r>
            <a:r>
              <a:rPr lang="en-GB" sz="1800" dirty="0"/>
              <a:t> has become too far diverged due to multiple commits and merges into dev since it was created.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Rebasing</a:t>
            </a:r>
            <a:r>
              <a:rPr lang="en-GB" sz="1800" dirty="0"/>
              <a:t> the chng2 branch onto the latest dev: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Rewrites</a:t>
            </a:r>
            <a:r>
              <a:rPr lang="en-GB" sz="1800" dirty="0"/>
              <a:t> the commit history of chng2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Incorporates the </a:t>
            </a:r>
            <a:r>
              <a:rPr lang="en-GB" sz="1800" b="1" dirty="0">
                <a:solidFill>
                  <a:schemeClr val="accent1"/>
                </a:solidFill>
              </a:rPr>
              <a:t>latest changes from dev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Brings the branches closer together, </a:t>
            </a:r>
            <a:r>
              <a:rPr lang="en-GB" sz="1800" b="1" dirty="0">
                <a:solidFill>
                  <a:schemeClr val="accent1"/>
                </a:solidFill>
              </a:rPr>
              <a:t>reducing divergence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dirty="0"/>
              <a:t>This makes the branch: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Easier</a:t>
            </a:r>
            <a:r>
              <a:rPr lang="en-GB" sz="1800" dirty="0"/>
              <a:t> to merge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Less likely to produce complex conflicts</a:t>
            </a:r>
          </a:p>
        </p:txBody>
      </p:sp>
    </p:spTree>
    <p:extLst>
      <p:ext uri="{BB962C8B-B14F-4D97-AF65-F5344CB8AC3E}">
        <p14:creationId xmlns:p14="http://schemas.microsoft.com/office/powerpoint/2010/main" val="3083414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ADDD-4B0B-DBED-3A34-514BE55F1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32A17-8D50-358C-FF87-92C7298726DF}"/>
              </a:ext>
            </a:extLst>
          </p:cNvPr>
          <p:cNvSpPr txBox="1">
            <a:spLocks/>
          </p:cNvSpPr>
          <p:nvPr/>
        </p:nvSpPr>
        <p:spPr>
          <a:xfrm>
            <a:off x="681037" y="685800"/>
            <a:ext cx="9240838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How to Avoid Rebasing?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5E922-17A7-D0A6-02EF-D611D4F83135}"/>
              </a:ext>
            </a:extLst>
          </p:cNvPr>
          <p:cNvSpPr txBox="1">
            <a:spLocks/>
          </p:cNvSpPr>
          <p:nvPr/>
        </p:nvSpPr>
        <p:spPr>
          <a:xfrm>
            <a:off x="681039" y="1606013"/>
            <a:ext cx="10963094" cy="435388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</a:pPr>
            <a:r>
              <a:rPr lang="en-GB" sz="1800" dirty="0"/>
              <a:t>Rebasing can be </a:t>
            </a:r>
            <a:r>
              <a:rPr lang="en-GB" sz="1800" b="1" dirty="0">
                <a:solidFill>
                  <a:schemeClr val="accent1"/>
                </a:solidFill>
              </a:rPr>
              <a:t>time-consuming and complex</a:t>
            </a:r>
            <a:r>
              <a:rPr lang="en-GB" sz="1800" dirty="0"/>
              <a:t>, often requiring use of the terminal (and sometimes Vim).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dirty="0"/>
              <a:t>To minimise the need to rebase: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Keep branches </a:t>
            </a:r>
            <a:r>
              <a:rPr lang="en-GB" sz="1800" b="1" dirty="0">
                <a:solidFill>
                  <a:schemeClr val="accent1"/>
                </a:solidFill>
              </a:rPr>
              <a:t>up to date </a:t>
            </a:r>
            <a:r>
              <a:rPr lang="en-GB" sz="1800" dirty="0"/>
              <a:t>with dev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Merge </a:t>
            </a:r>
            <a:r>
              <a:rPr lang="en-GB" sz="1800" b="1" dirty="0">
                <a:solidFill>
                  <a:schemeClr val="accent1"/>
                </a:solidFill>
              </a:rPr>
              <a:t>small changes regularly </a:t>
            </a:r>
            <a:r>
              <a:rPr lang="en-GB" sz="1800" dirty="0"/>
              <a:t>into dev</a:t>
            </a:r>
          </a:p>
          <a:p>
            <a:pPr marL="537750" lvl="1" indent="-285750">
              <a:lnSpc>
                <a:spcPct val="150000"/>
              </a:lnSpc>
            </a:pPr>
            <a:r>
              <a:rPr lang="en-GB" sz="1800" dirty="0"/>
              <a:t>Avoid leaving branches open for </a:t>
            </a:r>
            <a:r>
              <a:rPr lang="en-GB" sz="1800" b="1" dirty="0">
                <a:solidFill>
                  <a:schemeClr val="accent1"/>
                </a:solidFill>
              </a:rPr>
              <a:t>long periods</a:t>
            </a:r>
          </a:p>
          <a:p>
            <a:pPr marL="285750" indent="-285750">
              <a:lnSpc>
                <a:spcPct val="150000"/>
              </a:lnSpc>
            </a:pPr>
            <a:r>
              <a:rPr lang="en-GB" sz="1800" dirty="0"/>
              <a:t>Branches that are left too long will </a:t>
            </a:r>
            <a:r>
              <a:rPr lang="en-GB" sz="1800" b="1" dirty="0">
                <a:solidFill>
                  <a:schemeClr val="accent1"/>
                </a:solidFill>
              </a:rPr>
              <a:t>diverge significantly</a:t>
            </a:r>
            <a:r>
              <a:rPr lang="en-GB" sz="1800" dirty="0"/>
              <a:t>, making them harder to merge and more likely to require a rebase. </a:t>
            </a:r>
          </a:p>
        </p:txBody>
      </p:sp>
    </p:spTree>
    <p:extLst>
      <p:ext uri="{BB962C8B-B14F-4D97-AF65-F5344CB8AC3E}">
        <p14:creationId xmlns:p14="http://schemas.microsoft.com/office/powerpoint/2010/main" val="265760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9af038e-07b4-4369-a678-c835687cb272}" enabled="1" method="Standard" siteId="{ac52f73c-fd1a-4a9a-8e7a-4a248f3139e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GitLab Rebase Walkthrough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Fratamico, Antonio (HMRC Customer Experience Directorate)</dc:creator>
  <cp:lastModifiedBy>Fratamico, Antonio (HMRC Customer Experience Directorate)</cp:lastModifiedBy>
  <cp:revision>1</cp:revision>
  <dcterms:created xsi:type="dcterms:W3CDTF">2026-06-29T10:00:28Z</dcterms:created>
  <dcterms:modified xsi:type="dcterms:W3CDTF">2026-06-29T11:34:04Z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OFFICIAL</vt:lpwstr>
  </property>
</Properties>
</file>