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1253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atamico, Antonio (HMRC Customer Experience Directorate)" userId="6c9a0008-2ecc-4f1c-922e-1b3918fad8a9" providerId="ADAL" clId="{3D09A837-398D-44D0-8854-40F871D76604}"/>
    <pc:docChg chg="custSel modSld">
      <pc:chgData name="Fratamico, Antonio (HMRC Customer Experience Directorate)" userId="6c9a0008-2ecc-4f1c-922e-1b3918fad8a9" providerId="ADAL" clId="{3D09A837-398D-44D0-8854-40F871D76604}" dt="2026-06-29T11:33:12.439" v="52" actId="478"/>
      <pc:docMkLst>
        <pc:docMk/>
      </pc:docMkLst>
      <pc:sldChg chg="addSp delSp modSp mod">
        <pc:chgData name="Fratamico, Antonio (HMRC Customer Experience Directorate)" userId="6c9a0008-2ecc-4f1c-922e-1b3918fad8a9" providerId="ADAL" clId="{3D09A837-398D-44D0-8854-40F871D76604}" dt="2026-06-29T11:33:12.439" v="52" actId="478"/>
        <pc:sldMkLst>
          <pc:docMk/>
          <pc:sldMk cId="2338043958" sldId="256"/>
        </pc:sldMkLst>
        <pc:spChg chg="mod">
          <ac:chgData name="Fratamico, Antonio (HMRC Customer Experience Directorate)" userId="6c9a0008-2ecc-4f1c-922e-1b3918fad8a9" providerId="ADAL" clId="{3D09A837-398D-44D0-8854-40F871D76604}" dt="2026-06-29T09:28:40.936" v="32" actId="20577"/>
          <ac:spMkLst>
            <pc:docMk/>
            <pc:sldMk cId="2338043958" sldId="256"/>
            <ac:spMk id="2" creationId="{75EFE4E4-8597-DE65-3203-606CAF2CAFCC}"/>
          </ac:spMkLst>
        </pc:spChg>
        <pc:spChg chg="del mod">
          <ac:chgData name="Fratamico, Antonio (HMRC Customer Experience Directorate)" userId="6c9a0008-2ecc-4f1c-922e-1b3918fad8a9" providerId="ADAL" clId="{3D09A837-398D-44D0-8854-40F871D76604}" dt="2026-06-29T09:28:58.976" v="45" actId="478"/>
          <ac:spMkLst>
            <pc:docMk/>
            <pc:sldMk cId="2338043958" sldId="256"/>
            <ac:spMk id="3" creationId="{298C77A1-DC8B-A938-5F9A-34C189B737A0}"/>
          </ac:spMkLst>
        </pc:spChg>
        <pc:spChg chg="add del mod">
          <ac:chgData name="Fratamico, Antonio (HMRC Customer Experience Directorate)" userId="6c9a0008-2ecc-4f1c-922e-1b3918fad8a9" providerId="ADAL" clId="{3D09A837-398D-44D0-8854-40F871D76604}" dt="2026-06-29T11:33:12.439" v="52" actId="478"/>
          <ac:spMkLst>
            <pc:docMk/>
            <pc:sldMk cId="2338043958" sldId="256"/>
            <ac:spMk id="5" creationId="{2447D0E3-DE32-0344-0D3B-3097CFD7E3D4}"/>
          </ac:spMkLst>
        </pc:spChg>
      </pc:sldChg>
      <pc:sldChg chg="modSp mod">
        <pc:chgData name="Fratamico, Antonio (HMRC Customer Experience Directorate)" userId="6c9a0008-2ecc-4f1c-922e-1b3918fad8a9" providerId="ADAL" clId="{3D09A837-398D-44D0-8854-40F871D76604}" dt="2026-06-29T09:41:58.369" v="47" actId="207"/>
        <pc:sldMkLst>
          <pc:docMk/>
          <pc:sldMk cId="2607661290" sldId="257"/>
        </pc:sldMkLst>
        <pc:spChg chg="mod">
          <ac:chgData name="Fratamico, Antonio (HMRC Customer Experience Directorate)" userId="6c9a0008-2ecc-4f1c-922e-1b3918fad8a9" providerId="ADAL" clId="{3D09A837-398D-44D0-8854-40F871D76604}" dt="2026-06-29T09:41:58.369" v="47" actId="207"/>
          <ac:spMkLst>
            <pc:docMk/>
            <pc:sldMk cId="2607661290" sldId="257"/>
            <ac:spMk id="7" creationId="{D2782C64-4300-DDAE-4A56-A175D1913930}"/>
          </ac:spMkLst>
        </pc:spChg>
      </pc:sldChg>
      <pc:sldChg chg="modSp mod">
        <pc:chgData name="Fratamico, Antonio (HMRC Customer Experience Directorate)" userId="6c9a0008-2ecc-4f1c-922e-1b3918fad8a9" providerId="ADAL" clId="{3D09A837-398D-44D0-8854-40F871D76604}" dt="2026-06-29T09:42:08.231" v="50" actId="207"/>
        <pc:sldMkLst>
          <pc:docMk/>
          <pc:sldMk cId="4032079398" sldId="258"/>
        </pc:sldMkLst>
        <pc:spChg chg="mod">
          <ac:chgData name="Fratamico, Antonio (HMRC Customer Experience Directorate)" userId="6c9a0008-2ecc-4f1c-922e-1b3918fad8a9" providerId="ADAL" clId="{3D09A837-398D-44D0-8854-40F871D76604}" dt="2026-06-29T09:42:08.231" v="50" actId="207"/>
          <ac:spMkLst>
            <pc:docMk/>
            <pc:sldMk cId="4032079398" sldId="258"/>
            <ac:spMk id="5" creationId="{9B971CBA-0DF8-DE34-06CC-A30247BDE123}"/>
          </ac:spMkLst>
        </pc:spChg>
      </pc:sldChg>
      <pc:sldChg chg="modSp mod">
        <pc:chgData name="Fratamico, Antonio (HMRC Customer Experience Directorate)" userId="6c9a0008-2ecc-4f1c-922e-1b3918fad8a9" providerId="ADAL" clId="{3D09A837-398D-44D0-8854-40F871D76604}" dt="2026-06-29T09:43:26.277" v="51" actId="2711"/>
        <pc:sldMkLst>
          <pc:docMk/>
          <pc:sldMk cId="2104368860" sldId="271"/>
        </pc:sldMkLst>
        <pc:spChg chg="mod">
          <ac:chgData name="Fratamico, Antonio (HMRC Customer Experience Directorate)" userId="6c9a0008-2ecc-4f1c-922e-1b3918fad8a9" providerId="ADAL" clId="{3D09A837-398D-44D0-8854-40F871D76604}" dt="2026-06-29T09:43:26.277" v="51" actId="2711"/>
          <ac:spMkLst>
            <pc:docMk/>
            <pc:sldMk cId="2104368860" sldId="271"/>
            <ac:spMk id="3" creationId="{D08E4B5F-8602-A14F-F5F8-6E88CBAB540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07485-A078-DB9B-150B-ABA03EC47B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3B3526-A894-D397-A928-6D70D75ACC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9FACA0-D429-B2EA-D9E7-4501CC4F8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7F7BA-5491-4D60-82B3-ADF597EF94FD}" type="datetimeFigureOut">
              <a:rPr lang="en-GB" smtClean="0"/>
              <a:t>29/06/2026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F09E08-E70B-27E4-6B95-6EF205744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759463-ADEE-2E20-3D1F-DCE509282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CBC5C-4B13-4D00-8D73-47F4F443ED7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34419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7C648-3D8C-F207-F298-EB34F62DD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8E69BE-AA15-1391-7BDE-2FAED00BA9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C4A51D-EBE8-2C0A-E646-3D54DFA9B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7F7BA-5491-4D60-82B3-ADF597EF94FD}" type="datetimeFigureOut">
              <a:rPr lang="en-GB" smtClean="0"/>
              <a:t>29/06/2026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626DDC-0467-ED4F-6119-76A9EE4BD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579BB0-7101-6E78-B274-FFB9A947B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CBC5C-4B13-4D00-8D73-47F4F443ED7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9314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A10E0-10E5-507E-C7A6-EC1BB15CE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3FB63D-F593-B05A-FBD4-08D8F0268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A707B0-B4DA-5B49-EB2A-BADD1BBF4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7F7BA-5491-4D60-82B3-ADF597EF94FD}" type="datetimeFigureOut">
              <a:rPr lang="en-GB" smtClean="0"/>
              <a:t>29/06/2026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8B5BED-CF2E-E958-248D-3019CEB10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89A838-F030-4742-1963-37491CF0C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CBC5C-4B13-4D00-8D73-47F4F443ED7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2267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7DAB1-9485-E94D-1195-1FD17597E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BD628A-F9EB-0292-3413-FD6BF22C9F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26D346-6C75-95B7-5A07-77625BFA50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7762D4-0E11-A7FC-1BBE-0B40CEFEC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7F7BA-5491-4D60-82B3-ADF597EF94FD}" type="datetimeFigureOut">
              <a:rPr lang="en-GB" smtClean="0"/>
              <a:t>29/06/2026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7507F0-61AA-32A7-5042-33E958DEA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4A383C-230E-43D3-72D1-C5788D406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CBC5C-4B13-4D00-8D73-47F4F443ED7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25122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EB293-11EB-23DB-B500-5CB2856E5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77CC14-92D5-9DFC-B57A-E8182A0953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1395C4-0AEF-EC16-1EF1-967EB4B8D8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173EB1-7DBE-DF38-D898-EA12C0B8C1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B7D191-8E4D-911F-FB62-634B678C15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9D4F74-9102-E2C1-3A88-5EEF2331B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7F7BA-5491-4D60-82B3-ADF597EF94FD}" type="datetimeFigureOut">
              <a:rPr lang="en-GB" smtClean="0"/>
              <a:t>29/06/2026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9DDC89-2D8C-25DF-B883-7C01AD469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CBEEDC-464D-073E-6050-510F360D6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CBC5C-4B13-4D00-8D73-47F4F443ED7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9677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B182D-2B05-811F-028B-60E97816B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75C827-B7CB-F941-F570-91A24D748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7F7BA-5491-4D60-82B3-ADF597EF94FD}" type="datetimeFigureOut">
              <a:rPr lang="en-GB" smtClean="0"/>
              <a:t>29/06/2026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96E036-314C-DFA1-8760-B7E571910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47F3EE-629B-D330-84F7-3028701D1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CBC5C-4B13-4D00-8D73-47F4F443ED7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17780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DD4457C-1DCB-D3A4-251D-AE1278EED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7F7BA-5491-4D60-82B3-ADF597EF94FD}" type="datetimeFigureOut">
              <a:rPr lang="en-GB" smtClean="0"/>
              <a:t>29/06/2026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EC2199-476F-D935-7C22-314F6B0ED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E6F879-8671-DDAC-9D0F-28DCAD869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CBC5C-4B13-4D00-8D73-47F4F443ED7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32534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C0136-E205-5D59-A200-25165839A9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FA750F-3552-11E9-124C-BEE6324E36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2EB49A-14B0-97CB-133B-38155451B4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479837-C474-4882-452D-312F43B0C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7F7BA-5491-4D60-82B3-ADF597EF94FD}" type="datetimeFigureOut">
              <a:rPr lang="en-GB" smtClean="0"/>
              <a:t>29/06/2026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43290F-930E-30C6-9EB0-4A5C0231F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7ABF1F-0C3A-50DA-8918-8A547502D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CBC5C-4B13-4D00-8D73-47F4F443ED7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67960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74FE0-159D-A088-FFEB-BC13C613C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6CB6BC-BEC5-5C46-01BE-E3A70B18DF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FC8EE5-22E6-35E1-6373-56EB015D57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13CF3F-B272-7F43-88BD-E3C6349EC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7F7BA-5491-4D60-82B3-ADF597EF94FD}" type="datetimeFigureOut">
              <a:rPr lang="en-GB" smtClean="0"/>
              <a:t>29/06/2026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435B16-A3ED-9F60-C4AB-14A730BEF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058F18-4810-F520-0631-2AE969C96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CBC5C-4B13-4D00-8D73-47F4F443ED7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75927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F4544-B8DD-584E-8A5F-F98B0A5C6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FA9786-4BB9-9CB1-5D52-083149FD88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9556AA-0797-EEB5-809F-199642C9D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7F7BA-5491-4D60-82B3-ADF597EF94FD}" type="datetimeFigureOut">
              <a:rPr lang="en-GB" smtClean="0"/>
              <a:t>29/06/2026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0D71CE-59EA-DC6E-A493-1F8589A57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4000F8-5019-2E78-37A8-510AEC90E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CBC5C-4B13-4D00-8D73-47F4F443ED7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3118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AAEF0F6-F4A0-6176-1A98-039F84B95A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096496-EEEE-4B4E-C27F-5CE8B3D818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9D13E-EC25-A838-4583-511322E90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7F7BA-5491-4D60-82B3-ADF597EF94FD}" type="datetimeFigureOut">
              <a:rPr lang="en-GB" smtClean="0"/>
              <a:t>29/06/2026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DE7997-7136-A773-3863-0F16D3C4C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A84A65-EBBB-6275-1455-4F3A2DFAB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CBC5C-4B13-4D00-8D73-47F4F443ED7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90997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216427-BA9C-B791-B3D9-2679289ED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C382AA-7365-109B-8C38-6FD47D353F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4461F1-605A-2C81-DFF6-EF183D75C5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47F7BA-5491-4D60-82B3-ADF597EF94FD}" type="datetimeFigureOut">
              <a:rPr lang="en-GB" smtClean="0"/>
              <a:t>29/06/2026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67E159-7061-C5AF-4494-4AF276B36D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DB4269-B57B-55A1-91F7-EB4664853E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DCBC5C-4B13-4D00-8D73-47F4F443ED74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183B34-8DCA-7144-ACDC-847DB7D3451B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836412" y="6642100"/>
            <a:ext cx="5445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OFFICIAL</a:t>
            </a:r>
          </a:p>
        </p:txBody>
      </p:sp>
    </p:spTree>
    <p:extLst>
      <p:ext uri="{BB962C8B-B14F-4D97-AF65-F5344CB8AC3E}">
        <p14:creationId xmlns:p14="http://schemas.microsoft.com/office/powerpoint/2010/main" val="2792737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" Target="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" Target="slide1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-scm.com/cheat-sheet" TargetMode="Externa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FE4E4-8597-DE65-3203-606CAF2CAFC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GitLab Introduction Walkthrough</a:t>
            </a:r>
          </a:p>
        </p:txBody>
      </p:sp>
    </p:spTree>
    <p:extLst>
      <p:ext uri="{BB962C8B-B14F-4D97-AF65-F5344CB8AC3E}">
        <p14:creationId xmlns:p14="http://schemas.microsoft.com/office/powerpoint/2010/main" val="23380439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B6B7714-94A3-9947-7464-1736B161619D}"/>
              </a:ext>
            </a:extLst>
          </p:cNvPr>
          <p:cNvSpPr txBox="1">
            <a:spLocks/>
          </p:cNvSpPr>
          <p:nvPr/>
        </p:nvSpPr>
        <p:spPr>
          <a:xfrm>
            <a:off x="681037" y="685800"/>
            <a:ext cx="9240838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100" dirty="0"/>
              <a:t>What is Git?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D2782C64-4300-DDAE-4A56-A175D1913930}"/>
              </a:ext>
            </a:extLst>
          </p:cNvPr>
          <p:cNvSpPr txBox="1">
            <a:spLocks/>
          </p:cNvSpPr>
          <p:nvPr/>
        </p:nvSpPr>
        <p:spPr>
          <a:xfrm>
            <a:off x="681038" y="1606013"/>
            <a:ext cx="11164887" cy="155196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</a:pPr>
            <a:r>
              <a:rPr lang="en-GB" sz="2000" dirty="0"/>
              <a:t>Git is a </a:t>
            </a:r>
            <a:r>
              <a:rPr lang="en-GB" sz="2000" dirty="0">
                <a:solidFill>
                  <a:schemeClr val="accent1"/>
                </a:solidFill>
              </a:rPr>
              <a:t>version control system </a:t>
            </a:r>
            <a:r>
              <a:rPr lang="en-GB" sz="2000" dirty="0"/>
              <a:t>that enables multiple users to collaborate on the </a:t>
            </a:r>
            <a:r>
              <a:rPr lang="en-GB" sz="2000" dirty="0">
                <a:solidFill>
                  <a:schemeClr val="accent1"/>
                </a:solidFill>
              </a:rPr>
              <a:t>same codebase simultaneously</a:t>
            </a:r>
            <a:r>
              <a:rPr lang="en-GB" sz="2000" dirty="0"/>
              <a:t>, making project management more efficient by tracking changes and allowing for seamless collaboration.</a:t>
            </a:r>
            <a:endParaRPr lang="en-GB" sz="2400" i="1" dirty="0"/>
          </a:p>
        </p:txBody>
      </p:sp>
    </p:spTree>
    <p:extLst>
      <p:ext uri="{BB962C8B-B14F-4D97-AF65-F5344CB8AC3E}">
        <p14:creationId xmlns:p14="http://schemas.microsoft.com/office/powerpoint/2010/main" val="26076612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3D08AF9-125A-8094-1BD6-8732E5B9A3DE}"/>
              </a:ext>
            </a:extLst>
          </p:cNvPr>
          <p:cNvSpPr txBox="1">
            <a:spLocks/>
          </p:cNvSpPr>
          <p:nvPr/>
        </p:nvSpPr>
        <p:spPr>
          <a:xfrm>
            <a:off x="681037" y="685800"/>
            <a:ext cx="9240838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100" dirty="0"/>
              <a:t>Benefits of using Git?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9B971CBA-0DF8-DE34-06CC-A30247BDE123}"/>
              </a:ext>
            </a:extLst>
          </p:cNvPr>
          <p:cNvSpPr txBox="1">
            <a:spLocks/>
          </p:cNvSpPr>
          <p:nvPr/>
        </p:nvSpPr>
        <p:spPr>
          <a:xfrm>
            <a:off x="681038" y="1606012"/>
            <a:ext cx="11164887" cy="416319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</a:pPr>
            <a:r>
              <a:rPr lang="en-GB" sz="2000" dirty="0"/>
              <a:t>Git allows </a:t>
            </a:r>
            <a:r>
              <a:rPr lang="en-GB" sz="2000" dirty="0">
                <a:solidFill>
                  <a:schemeClr val="accent1"/>
                </a:solidFill>
              </a:rPr>
              <a:t>multiple people </a:t>
            </a:r>
            <a:r>
              <a:rPr lang="en-GB" sz="2000" dirty="0"/>
              <a:t>to work on the same project simultaneously, providing a clear, shared view of the codebase.</a:t>
            </a:r>
          </a:p>
          <a:p>
            <a:pPr marL="285750" indent="-285750">
              <a:lnSpc>
                <a:spcPct val="150000"/>
              </a:lnSpc>
            </a:pPr>
            <a:r>
              <a:rPr lang="en-GB" sz="2000" dirty="0"/>
              <a:t>Git simplifies QA by showing </a:t>
            </a:r>
            <a:r>
              <a:rPr lang="en-GB" sz="2000" dirty="0">
                <a:solidFill>
                  <a:schemeClr val="accent1"/>
                </a:solidFill>
              </a:rPr>
              <a:t>line-by-line changes </a:t>
            </a:r>
            <a:r>
              <a:rPr lang="en-GB" sz="2000" dirty="0"/>
              <a:t>made to the project.</a:t>
            </a:r>
          </a:p>
          <a:p>
            <a:pPr marL="285750" indent="-285750">
              <a:lnSpc>
                <a:spcPct val="150000"/>
              </a:lnSpc>
            </a:pPr>
            <a:r>
              <a:rPr lang="en-GB" sz="2000" dirty="0"/>
              <a:t>It improves </a:t>
            </a:r>
            <a:r>
              <a:rPr lang="en-GB" sz="2000" dirty="0">
                <a:solidFill>
                  <a:schemeClr val="accent1"/>
                </a:solidFill>
              </a:rPr>
              <a:t>knowledge management </a:t>
            </a:r>
            <a:r>
              <a:rPr lang="en-GB" sz="2000" dirty="0"/>
              <a:t>by displaying links to documents and other files within the Git repo's README.</a:t>
            </a:r>
            <a:endParaRPr lang="en-GB" sz="2400" i="1" dirty="0"/>
          </a:p>
        </p:txBody>
      </p:sp>
    </p:spTree>
    <p:extLst>
      <p:ext uri="{BB962C8B-B14F-4D97-AF65-F5344CB8AC3E}">
        <p14:creationId xmlns:p14="http://schemas.microsoft.com/office/powerpoint/2010/main" val="40320793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376B8CD-AFDB-A264-7474-C753262B5B60}"/>
              </a:ext>
            </a:extLst>
          </p:cNvPr>
          <p:cNvSpPr txBox="1">
            <a:spLocks/>
          </p:cNvSpPr>
          <p:nvPr/>
        </p:nvSpPr>
        <p:spPr>
          <a:xfrm>
            <a:off x="1296988" y="3096602"/>
            <a:ext cx="9936162" cy="6647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Setting Up Git</a:t>
            </a:r>
          </a:p>
        </p:txBody>
      </p:sp>
    </p:spTree>
    <p:extLst>
      <p:ext uri="{BB962C8B-B14F-4D97-AF65-F5344CB8AC3E}">
        <p14:creationId xmlns:p14="http://schemas.microsoft.com/office/powerpoint/2010/main" val="30395765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7B8666B-9B79-C66A-4D0E-890AAD4C3803}"/>
              </a:ext>
            </a:extLst>
          </p:cNvPr>
          <p:cNvSpPr txBox="1">
            <a:spLocks/>
          </p:cNvSpPr>
          <p:nvPr/>
        </p:nvSpPr>
        <p:spPr>
          <a:xfrm>
            <a:off x="681037" y="685800"/>
            <a:ext cx="9240838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100" dirty="0"/>
              <a:t>TO FILL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CB08E2A0-19A7-8FDD-2E21-F7A5C19D5E3D}"/>
              </a:ext>
            </a:extLst>
          </p:cNvPr>
          <p:cNvSpPr txBox="1">
            <a:spLocks/>
          </p:cNvSpPr>
          <p:nvPr/>
        </p:nvSpPr>
        <p:spPr>
          <a:xfrm>
            <a:off x="681038" y="1606012"/>
            <a:ext cx="11164887" cy="416319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</a:pPr>
            <a:r>
              <a:rPr lang="en-GB" sz="2000" dirty="0"/>
              <a:t>DETAIL HOW TO SETUP GIT BASED ON YOUR ORGANISATIONS POLICYs</a:t>
            </a:r>
          </a:p>
        </p:txBody>
      </p:sp>
    </p:spTree>
    <p:extLst>
      <p:ext uri="{BB962C8B-B14F-4D97-AF65-F5344CB8AC3E}">
        <p14:creationId xmlns:p14="http://schemas.microsoft.com/office/powerpoint/2010/main" val="19490230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51705-1508-D6A8-0B57-72AC826A3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AD72D-C38D-D367-27DA-5062121EF717}"/>
              </a:ext>
            </a:extLst>
          </p:cNvPr>
          <p:cNvSpPr txBox="1">
            <a:spLocks/>
          </p:cNvSpPr>
          <p:nvPr/>
        </p:nvSpPr>
        <p:spPr>
          <a:xfrm>
            <a:off x="1296988" y="3096602"/>
            <a:ext cx="9936162" cy="6647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Git Repo Folder Structure</a:t>
            </a:r>
          </a:p>
        </p:txBody>
      </p:sp>
    </p:spTree>
    <p:extLst>
      <p:ext uri="{BB962C8B-B14F-4D97-AF65-F5344CB8AC3E}">
        <p14:creationId xmlns:p14="http://schemas.microsoft.com/office/powerpoint/2010/main" val="206886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5161A8-6F13-2E0A-C7F1-BFAFA55B6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2A6D9-834E-7A9C-5860-5696E4278395}"/>
              </a:ext>
            </a:extLst>
          </p:cNvPr>
          <p:cNvSpPr txBox="1">
            <a:spLocks/>
          </p:cNvSpPr>
          <p:nvPr/>
        </p:nvSpPr>
        <p:spPr>
          <a:xfrm>
            <a:off x="669463" y="685800"/>
            <a:ext cx="9240838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100" dirty="0"/>
              <a:t>Git Repo Folder Structure Example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BC67B97-A3E3-2E95-6479-C2368795ACC5}"/>
              </a:ext>
            </a:extLst>
          </p:cNvPr>
          <p:cNvSpPr/>
          <p:nvPr/>
        </p:nvSpPr>
        <p:spPr>
          <a:xfrm>
            <a:off x="2339541" y="1717099"/>
            <a:ext cx="2286000" cy="31396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600" b="1" dirty="0"/>
              <a:t>Project</a:t>
            </a:r>
            <a:r>
              <a:rPr lang="en-GB" sz="1600" dirty="0"/>
              <a:t>/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B5B6811-A16A-513B-8610-B74E2C197589}"/>
              </a:ext>
            </a:extLst>
          </p:cNvPr>
          <p:cNvSpPr/>
          <p:nvPr/>
        </p:nvSpPr>
        <p:spPr>
          <a:xfrm>
            <a:off x="3914757" y="2091190"/>
            <a:ext cx="2286000" cy="31396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600"/>
              <a:t>README.md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BA9801A-9E12-D78E-4173-FE140A1D4294}"/>
              </a:ext>
            </a:extLst>
          </p:cNvPr>
          <p:cNvSpPr/>
          <p:nvPr/>
        </p:nvSpPr>
        <p:spPr>
          <a:xfrm>
            <a:off x="3935270" y="2469537"/>
            <a:ext cx="2286000" cy="31396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600"/>
              <a:t>.</a:t>
            </a:r>
            <a:r>
              <a:rPr lang="en-GB" sz="1600" err="1"/>
              <a:t>gitignore</a:t>
            </a:r>
            <a:endParaRPr lang="en-GB" sz="1600"/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C531533B-439B-4545-E000-C53ED16C79C7}"/>
              </a:ext>
            </a:extLst>
          </p:cNvPr>
          <p:cNvCxnSpPr>
            <a:stCxn id="3" idx="2"/>
            <a:endCxn id="4" idx="1"/>
          </p:cNvCxnSpPr>
          <p:nvPr/>
        </p:nvCxnSpPr>
        <p:spPr>
          <a:xfrm rot="16200000" flipH="1">
            <a:off x="3590096" y="1923513"/>
            <a:ext cx="217107" cy="43221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6C9FC6CE-D786-0EA1-6BEC-87A7F3FF5406}"/>
              </a:ext>
            </a:extLst>
          </p:cNvPr>
          <p:cNvCxnSpPr>
            <a:stCxn id="3" idx="2"/>
            <a:endCxn id="5" idx="1"/>
          </p:cNvCxnSpPr>
          <p:nvPr/>
        </p:nvCxnSpPr>
        <p:spPr>
          <a:xfrm rot="16200000" flipH="1">
            <a:off x="3411178" y="2102430"/>
            <a:ext cx="595454" cy="45272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A795DCD-451C-C27B-DCF9-6D43277112B8}"/>
              </a:ext>
            </a:extLst>
          </p:cNvPr>
          <p:cNvSpPr/>
          <p:nvPr/>
        </p:nvSpPr>
        <p:spPr>
          <a:xfrm>
            <a:off x="3935270" y="2847884"/>
            <a:ext cx="2286000" cy="31396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600" b="1"/>
              <a:t>R</a:t>
            </a:r>
            <a:r>
              <a:rPr lang="en-GB" sz="1600"/>
              <a:t>/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C4CBE8E-F1A6-A4D8-1DD0-3D95E820EFA1}"/>
              </a:ext>
            </a:extLst>
          </p:cNvPr>
          <p:cNvSpPr/>
          <p:nvPr/>
        </p:nvSpPr>
        <p:spPr>
          <a:xfrm>
            <a:off x="5447238" y="3228863"/>
            <a:ext cx="2286000" cy="31396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600" err="1"/>
              <a:t>main.R</a:t>
            </a:r>
            <a:endParaRPr lang="en-GB" sz="160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906BB6C-16F9-6AFC-B218-8355B7D40A35}"/>
              </a:ext>
            </a:extLst>
          </p:cNvPr>
          <p:cNvSpPr/>
          <p:nvPr/>
        </p:nvSpPr>
        <p:spPr>
          <a:xfrm>
            <a:off x="5447238" y="3604855"/>
            <a:ext cx="2286000" cy="31396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600" err="1"/>
              <a:t>config.yml</a:t>
            </a:r>
            <a:endParaRPr lang="en-GB" sz="160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B0FD82D-46E0-BAEE-002F-06027B624B10}"/>
              </a:ext>
            </a:extLst>
          </p:cNvPr>
          <p:cNvSpPr/>
          <p:nvPr/>
        </p:nvSpPr>
        <p:spPr>
          <a:xfrm>
            <a:off x="5447238" y="3980847"/>
            <a:ext cx="2286000" cy="31396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600" b="1" err="1"/>
              <a:t>src</a:t>
            </a:r>
            <a:r>
              <a:rPr lang="en-GB" sz="1600"/>
              <a:t>/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460E496-E462-9855-3840-101B4D11A5DC}"/>
              </a:ext>
            </a:extLst>
          </p:cNvPr>
          <p:cNvSpPr/>
          <p:nvPr/>
        </p:nvSpPr>
        <p:spPr>
          <a:xfrm>
            <a:off x="6907530" y="4356839"/>
            <a:ext cx="2286000" cy="31396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600"/>
              <a:t>function1.R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CE3B129-27CE-7443-67B9-81DC0F6F3812}"/>
              </a:ext>
            </a:extLst>
          </p:cNvPr>
          <p:cNvSpPr/>
          <p:nvPr/>
        </p:nvSpPr>
        <p:spPr>
          <a:xfrm>
            <a:off x="3935270" y="5480999"/>
            <a:ext cx="2286000" cy="31396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600" b="1"/>
              <a:t>python</a:t>
            </a:r>
            <a:r>
              <a:rPr lang="en-GB" sz="1600"/>
              <a:t>/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3B3A83B-6338-47D5-2377-339DEF409952}"/>
              </a:ext>
            </a:extLst>
          </p:cNvPr>
          <p:cNvSpPr/>
          <p:nvPr/>
        </p:nvSpPr>
        <p:spPr>
          <a:xfrm>
            <a:off x="5447238" y="4732831"/>
            <a:ext cx="2286000" cy="31396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600" b="1" err="1"/>
              <a:t>Rmarkdown</a:t>
            </a:r>
            <a:r>
              <a:rPr lang="en-GB" sz="1600"/>
              <a:t>/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5665AE1-806F-33B3-0D78-D65472B0B6F8}"/>
              </a:ext>
            </a:extLst>
          </p:cNvPr>
          <p:cNvSpPr/>
          <p:nvPr/>
        </p:nvSpPr>
        <p:spPr>
          <a:xfrm>
            <a:off x="6907530" y="5108823"/>
            <a:ext cx="2286000" cy="31396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600"/>
              <a:t>Markdown1.Rmd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90DC3F7-890B-C0F4-9B8E-8ADDBAF595FB}"/>
              </a:ext>
            </a:extLst>
          </p:cNvPr>
          <p:cNvSpPr/>
          <p:nvPr/>
        </p:nvSpPr>
        <p:spPr>
          <a:xfrm>
            <a:off x="5447238" y="5858231"/>
            <a:ext cx="2286000" cy="31396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600" dirty="0" err="1"/>
              <a:t>main.ipynb</a:t>
            </a:r>
            <a:endParaRPr lang="en-GB" sz="1600" dirty="0"/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FE807434-03F2-6C7B-3AFA-964606ECD33C}"/>
              </a:ext>
            </a:extLst>
          </p:cNvPr>
          <p:cNvCxnSpPr>
            <a:stCxn id="3" idx="2"/>
            <a:endCxn id="8" idx="1"/>
          </p:cNvCxnSpPr>
          <p:nvPr/>
        </p:nvCxnSpPr>
        <p:spPr>
          <a:xfrm rot="16200000" flipH="1">
            <a:off x="3222005" y="2291603"/>
            <a:ext cx="973801" cy="45272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46B02B8A-74BB-CA27-ED88-755ADFDB2BB5}"/>
              </a:ext>
            </a:extLst>
          </p:cNvPr>
          <p:cNvCxnSpPr>
            <a:stCxn id="8" idx="2"/>
            <a:endCxn id="9" idx="1"/>
          </p:cNvCxnSpPr>
          <p:nvPr/>
        </p:nvCxnSpPr>
        <p:spPr>
          <a:xfrm rot="16200000" flipH="1">
            <a:off x="5150757" y="3089366"/>
            <a:ext cx="223995" cy="36896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DAFAC0A4-C024-D1BE-D4D7-CB98184E1143}"/>
              </a:ext>
            </a:extLst>
          </p:cNvPr>
          <p:cNvCxnSpPr>
            <a:stCxn id="8" idx="2"/>
            <a:endCxn id="10" idx="1"/>
          </p:cNvCxnSpPr>
          <p:nvPr/>
        </p:nvCxnSpPr>
        <p:spPr>
          <a:xfrm rot="16200000" flipH="1">
            <a:off x="4962761" y="3277362"/>
            <a:ext cx="599987" cy="36896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1B4FCA05-532E-ADA3-92B1-4290EBE726A4}"/>
              </a:ext>
            </a:extLst>
          </p:cNvPr>
          <p:cNvCxnSpPr>
            <a:stCxn id="8" idx="2"/>
            <a:endCxn id="11" idx="1"/>
          </p:cNvCxnSpPr>
          <p:nvPr/>
        </p:nvCxnSpPr>
        <p:spPr>
          <a:xfrm rot="16200000" flipH="1">
            <a:off x="4774765" y="3465358"/>
            <a:ext cx="975979" cy="36896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3BAAAEB5-5E86-917B-8060-EC59DE8D50EE}"/>
              </a:ext>
            </a:extLst>
          </p:cNvPr>
          <p:cNvCxnSpPr>
            <a:stCxn id="8" idx="2"/>
            <a:endCxn id="14" idx="1"/>
          </p:cNvCxnSpPr>
          <p:nvPr/>
        </p:nvCxnSpPr>
        <p:spPr>
          <a:xfrm rot="16200000" flipH="1">
            <a:off x="4398773" y="3841350"/>
            <a:ext cx="1727963" cy="36896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5EC5FEB5-2E8C-F33E-96B2-1A7E7A3F0171}"/>
              </a:ext>
            </a:extLst>
          </p:cNvPr>
          <p:cNvCxnSpPr>
            <a:stCxn id="11" idx="2"/>
            <a:endCxn id="12" idx="1"/>
          </p:cNvCxnSpPr>
          <p:nvPr/>
        </p:nvCxnSpPr>
        <p:spPr>
          <a:xfrm rot="16200000" flipH="1">
            <a:off x="6639380" y="4245674"/>
            <a:ext cx="219008" cy="31729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58554587-D7C5-0E2D-AC8A-C0BF98A01AF8}"/>
              </a:ext>
            </a:extLst>
          </p:cNvPr>
          <p:cNvCxnSpPr>
            <a:stCxn id="14" idx="2"/>
            <a:endCxn id="15" idx="1"/>
          </p:cNvCxnSpPr>
          <p:nvPr/>
        </p:nvCxnSpPr>
        <p:spPr>
          <a:xfrm rot="16200000" flipH="1">
            <a:off x="6639380" y="4997658"/>
            <a:ext cx="219008" cy="31729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68335E1F-323D-7D98-483C-372E0585979B}"/>
              </a:ext>
            </a:extLst>
          </p:cNvPr>
          <p:cNvCxnSpPr>
            <a:stCxn id="3" idx="2"/>
            <a:endCxn id="13" idx="1"/>
          </p:cNvCxnSpPr>
          <p:nvPr/>
        </p:nvCxnSpPr>
        <p:spPr>
          <a:xfrm rot="16200000" flipH="1">
            <a:off x="1905447" y="3608161"/>
            <a:ext cx="3606916" cy="45272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1709EB0F-E237-0254-24A0-E39C6E3795DB}"/>
              </a:ext>
            </a:extLst>
          </p:cNvPr>
          <p:cNvCxnSpPr>
            <a:stCxn id="13" idx="2"/>
            <a:endCxn id="16" idx="1"/>
          </p:cNvCxnSpPr>
          <p:nvPr/>
        </p:nvCxnSpPr>
        <p:spPr>
          <a:xfrm rot="16200000" flipH="1">
            <a:off x="5152630" y="5720608"/>
            <a:ext cx="220248" cy="36896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68131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79DDA-C96A-503F-4279-4E46035F7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6704C-AD41-C8C7-A3DF-962FB5CD9724}"/>
              </a:ext>
            </a:extLst>
          </p:cNvPr>
          <p:cNvSpPr txBox="1">
            <a:spLocks/>
          </p:cNvSpPr>
          <p:nvPr/>
        </p:nvSpPr>
        <p:spPr>
          <a:xfrm>
            <a:off x="1296988" y="3096602"/>
            <a:ext cx="9936162" cy="6647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Branches in Git</a:t>
            </a:r>
          </a:p>
        </p:txBody>
      </p:sp>
    </p:spTree>
    <p:extLst>
      <p:ext uri="{BB962C8B-B14F-4D97-AF65-F5344CB8AC3E}">
        <p14:creationId xmlns:p14="http://schemas.microsoft.com/office/powerpoint/2010/main" val="30973261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E73058-649C-6880-65EF-1D578C7DC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ACFDE-696A-8EF7-8FA6-13308BE20A98}"/>
              </a:ext>
            </a:extLst>
          </p:cNvPr>
          <p:cNvSpPr txBox="1">
            <a:spLocks/>
          </p:cNvSpPr>
          <p:nvPr/>
        </p:nvSpPr>
        <p:spPr>
          <a:xfrm>
            <a:off x="681037" y="685800"/>
            <a:ext cx="9240838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/>
              <a:t>Introduction to Git Branches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845D1F-5442-0953-8739-29B60FEE4D76}"/>
              </a:ext>
            </a:extLst>
          </p:cNvPr>
          <p:cNvSpPr txBox="1">
            <a:spLocks/>
          </p:cNvSpPr>
          <p:nvPr/>
        </p:nvSpPr>
        <p:spPr>
          <a:xfrm>
            <a:off x="681038" y="1606012"/>
            <a:ext cx="11164887" cy="416319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</a:pPr>
            <a:r>
              <a:rPr lang="en-GB" sz="2000" b="1" dirty="0"/>
              <a:t>What is a Git branch?</a:t>
            </a:r>
          </a:p>
          <a:p>
            <a:pPr marL="537750" lvl="1" indent="-285750">
              <a:lnSpc>
                <a:spcPct val="150000"/>
              </a:lnSpc>
            </a:pPr>
            <a:r>
              <a:rPr lang="en-GB" sz="2000" dirty="0"/>
              <a:t>A branch is a separate line of work created from the main codebase</a:t>
            </a:r>
          </a:p>
          <a:p>
            <a:pPr marL="537750" lvl="1" indent="-285750">
              <a:lnSpc>
                <a:spcPct val="150000"/>
              </a:lnSpc>
            </a:pPr>
            <a:r>
              <a:rPr lang="en-GB" sz="2000" dirty="0"/>
              <a:t>It lets you make changes </a:t>
            </a:r>
            <a:r>
              <a:rPr lang="en-GB" sz="2000" b="1" dirty="0">
                <a:solidFill>
                  <a:schemeClr val="accent1"/>
                </a:solidFill>
              </a:rPr>
              <a:t>without affecting </a:t>
            </a:r>
            <a:r>
              <a:rPr lang="en-GB" sz="2000" dirty="0"/>
              <a:t>stable code</a:t>
            </a:r>
          </a:p>
          <a:p>
            <a:pPr marL="342900" indent="-342900">
              <a:lnSpc>
                <a:spcPct val="150000"/>
              </a:lnSpc>
            </a:pPr>
            <a:r>
              <a:rPr lang="en-GB" sz="2000" b="1" dirty="0"/>
              <a:t>Why branches matter</a:t>
            </a:r>
            <a:r>
              <a:rPr lang="en-GB" sz="2000" dirty="0"/>
              <a:t>:</a:t>
            </a:r>
          </a:p>
          <a:p>
            <a:pPr marL="594900" lvl="1" indent="-342900">
              <a:lnSpc>
                <a:spcPct val="150000"/>
              </a:lnSpc>
            </a:pPr>
            <a:r>
              <a:rPr lang="en-GB" sz="2000" dirty="0"/>
              <a:t>Enable safe experimentation</a:t>
            </a:r>
          </a:p>
          <a:p>
            <a:pPr marL="594900" lvl="1" indent="-342900">
              <a:lnSpc>
                <a:spcPct val="150000"/>
              </a:lnSpc>
            </a:pPr>
            <a:r>
              <a:rPr lang="en-GB" sz="2000" dirty="0"/>
              <a:t>Allow multiple changes in parallel</a:t>
            </a:r>
          </a:p>
          <a:p>
            <a:pPr marL="594900" lvl="1" indent="-342900">
              <a:lnSpc>
                <a:spcPct val="150000"/>
              </a:lnSpc>
            </a:pPr>
            <a:r>
              <a:rPr lang="en-GB" sz="2000" dirty="0"/>
              <a:t>Protect main / dev from accidental breakage</a:t>
            </a:r>
          </a:p>
          <a:p>
            <a:pPr marL="594900" lvl="1" indent="-342900">
              <a:lnSpc>
                <a:spcPct val="150000"/>
              </a:lnSpc>
            </a:pPr>
            <a:r>
              <a:rPr lang="en-GB" sz="2000" dirty="0"/>
              <a:t>Support review, testing, and controlled merging</a:t>
            </a:r>
          </a:p>
        </p:txBody>
      </p:sp>
    </p:spTree>
    <p:extLst>
      <p:ext uri="{BB962C8B-B14F-4D97-AF65-F5344CB8AC3E}">
        <p14:creationId xmlns:p14="http://schemas.microsoft.com/office/powerpoint/2010/main" val="31963117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5333BE-58B5-30A3-03AC-35246BA46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DE430-8A5E-B325-5762-E22016B05324}"/>
              </a:ext>
            </a:extLst>
          </p:cNvPr>
          <p:cNvSpPr txBox="1">
            <a:spLocks/>
          </p:cNvSpPr>
          <p:nvPr/>
        </p:nvSpPr>
        <p:spPr>
          <a:xfrm>
            <a:off x="681037" y="685800"/>
            <a:ext cx="9240838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/>
              <a:t>Core Branches in a Repo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3C8624-EAFE-422F-A3FE-09012527D570}"/>
              </a:ext>
            </a:extLst>
          </p:cNvPr>
          <p:cNvSpPr txBox="1">
            <a:spLocks/>
          </p:cNvSpPr>
          <p:nvPr/>
        </p:nvSpPr>
        <p:spPr>
          <a:xfrm>
            <a:off x="681038" y="1606012"/>
            <a:ext cx="11164887" cy="416319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</a:pPr>
            <a:r>
              <a:rPr lang="en-GB" sz="2000"/>
              <a:t>The following branches are essential to any GitLab repository, and must be treated with extra caution:</a:t>
            </a:r>
          </a:p>
          <a:p>
            <a:pPr marL="537750" lvl="1" indent="-285750">
              <a:lnSpc>
                <a:spcPct val="150000"/>
              </a:lnSpc>
            </a:pPr>
            <a:r>
              <a:rPr lang="en-GB" sz="2000" b="1">
                <a:solidFill>
                  <a:schemeClr val="accent1"/>
                </a:solidFill>
              </a:rPr>
              <a:t>main</a:t>
            </a:r>
            <a:r>
              <a:rPr lang="en-GB" sz="2000"/>
              <a:t> is the original branch and should never be edited directly. Only the </a:t>
            </a:r>
            <a:r>
              <a:rPr lang="en-GB" sz="2000" i="1"/>
              <a:t>dev</a:t>
            </a:r>
            <a:r>
              <a:rPr lang="en-GB" sz="2000"/>
              <a:t> branch should be merged into </a:t>
            </a:r>
            <a:r>
              <a:rPr lang="en-GB" sz="2000" i="1"/>
              <a:t>main</a:t>
            </a:r>
            <a:r>
              <a:rPr lang="en-GB" sz="2000"/>
              <a:t> periodically, to act as a backup of </a:t>
            </a:r>
            <a:r>
              <a:rPr lang="en-GB" sz="2000" i="1"/>
              <a:t>dev</a:t>
            </a:r>
            <a:r>
              <a:rPr lang="en-GB" sz="2000"/>
              <a:t>.</a:t>
            </a:r>
          </a:p>
          <a:p>
            <a:pPr marL="537750" lvl="1" indent="-285750">
              <a:lnSpc>
                <a:spcPct val="150000"/>
              </a:lnSpc>
            </a:pPr>
            <a:r>
              <a:rPr lang="en-GB" sz="2000" b="1">
                <a:solidFill>
                  <a:schemeClr val="accent1"/>
                </a:solidFill>
              </a:rPr>
              <a:t>dev</a:t>
            </a:r>
            <a:r>
              <a:rPr lang="en-GB" sz="2000"/>
              <a:t> is branched off from </a:t>
            </a:r>
            <a:r>
              <a:rPr lang="en-GB" sz="2000" i="1"/>
              <a:t>main</a:t>
            </a:r>
            <a:r>
              <a:rPr lang="en-GB" sz="2000"/>
              <a:t> and acts as the primary working branch that other changes are merged into. It should not be edited directly either.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0615944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147BAB-B28B-115E-835A-A80EACB56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7EC5F-D09E-E982-AAAE-711431C15A66}"/>
              </a:ext>
            </a:extLst>
          </p:cNvPr>
          <p:cNvSpPr txBox="1">
            <a:spLocks/>
          </p:cNvSpPr>
          <p:nvPr/>
        </p:nvSpPr>
        <p:spPr>
          <a:xfrm>
            <a:off x="681037" y="685800"/>
            <a:ext cx="9240838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/>
              <a:t>How Branches Work (Example)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B7896C7-AD00-597B-796E-940497F47E37}"/>
              </a:ext>
            </a:extLst>
          </p:cNvPr>
          <p:cNvSpPr/>
          <p:nvPr/>
        </p:nvSpPr>
        <p:spPr>
          <a:xfrm>
            <a:off x="1358106" y="1415711"/>
            <a:ext cx="2045970" cy="33147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main (a3f9c2e)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6117E8D-3462-7389-23C2-1A74166B272C}"/>
              </a:ext>
            </a:extLst>
          </p:cNvPr>
          <p:cNvSpPr/>
          <p:nvPr/>
        </p:nvSpPr>
        <p:spPr>
          <a:xfrm>
            <a:off x="3404076" y="1950597"/>
            <a:ext cx="2045970" cy="331471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dev (7b41d8a)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F10A8F3-DFBA-821C-2E5D-BF6220C498E7}"/>
              </a:ext>
            </a:extLst>
          </p:cNvPr>
          <p:cNvSpPr/>
          <p:nvPr/>
        </p:nvSpPr>
        <p:spPr>
          <a:xfrm>
            <a:off x="5450046" y="2485483"/>
            <a:ext cx="2045970" cy="331471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edit1 (c9e2f14)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EF2DA34-D524-89C2-FCC8-C2902DBD4D9D}"/>
              </a:ext>
            </a:extLst>
          </p:cNvPr>
          <p:cNvSpPr/>
          <p:nvPr/>
        </p:nvSpPr>
        <p:spPr>
          <a:xfrm>
            <a:off x="5450046" y="4180535"/>
            <a:ext cx="2045970" cy="331471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edit1 (0e4fa92)</a:t>
            </a:r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C6545343-445A-7C5E-5EE7-8F94505D7698}"/>
              </a:ext>
            </a:extLst>
          </p:cNvPr>
          <p:cNvCxnSpPr>
            <a:stCxn id="3" idx="3"/>
            <a:endCxn id="4" idx="0"/>
          </p:cNvCxnSpPr>
          <p:nvPr/>
        </p:nvCxnSpPr>
        <p:spPr>
          <a:xfrm>
            <a:off x="3404076" y="1581447"/>
            <a:ext cx="1022985" cy="36915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A1E8C92-F0E3-F58F-3F9D-65F775C433BA}"/>
              </a:ext>
            </a:extLst>
          </p:cNvPr>
          <p:cNvSpPr/>
          <p:nvPr/>
        </p:nvSpPr>
        <p:spPr>
          <a:xfrm>
            <a:off x="7496016" y="3499909"/>
            <a:ext cx="2045970" cy="331471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chng2 (f2a91de)</a:t>
            </a:r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98494C35-097B-111F-806C-D6A7B129CFB1}"/>
              </a:ext>
            </a:extLst>
          </p:cNvPr>
          <p:cNvCxnSpPr>
            <a:stCxn id="4" idx="3"/>
            <a:endCxn id="5" idx="0"/>
          </p:cNvCxnSpPr>
          <p:nvPr/>
        </p:nvCxnSpPr>
        <p:spPr>
          <a:xfrm>
            <a:off x="5450046" y="2116333"/>
            <a:ext cx="1022985" cy="36915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54A05A4-4422-1A5D-9A3A-00E0FE7F9C45}"/>
              </a:ext>
            </a:extLst>
          </p:cNvPr>
          <p:cNvCxnSpPr>
            <a:stCxn id="5" idx="2"/>
            <a:endCxn id="6" idx="0"/>
          </p:cNvCxnSpPr>
          <p:nvPr/>
        </p:nvCxnSpPr>
        <p:spPr>
          <a:xfrm>
            <a:off x="6473031" y="2816954"/>
            <a:ext cx="0" cy="13635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B31C463-5526-4EDE-D354-4F93E97BAD95}"/>
              </a:ext>
            </a:extLst>
          </p:cNvPr>
          <p:cNvSpPr/>
          <p:nvPr/>
        </p:nvSpPr>
        <p:spPr>
          <a:xfrm>
            <a:off x="3404076" y="3034499"/>
            <a:ext cx="2045970" cy="331471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dev (5d8b0ac)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B25E93A-07C8-672E-3CAE-3A2827740A67}"/>
              </a:ext>
            </a:extLst>
          </p:cNvPr>
          <p:cNvCxnSpPr>
            <a:stCxn id="4" idx="2"/>
            <a:endCxn id="11" idx="0"/>
          </p:cNvCxnSpPr>
          <p:nvPr/>
        </p:nvCxnSpPr>
        <p:spPr>
          <a:xfrm>
            <a:off x="4427061" y="2282068"/>
            <a:ext cx="0" cy="7524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2AB1FB93-7BC6-1C94-C977-227565D8D839}"/>
              </a:ext>
            </a:extLst>
          </p:cNvPr>
          <p:cNvCxnSpPr>
            <a:stCxn id="11" idx="3"/>
            <a:endCxn id="8" idx="0"/>
          </p:cNvCxnSpPr>
          <p:nvPr/>
        </p:nvCxnSpPr>
        <p:spPr>
          <a:xfrm>
            <a:off x="5450046" y="3200235"/>
            <a:ext cx="3068955" cy="29967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2B1EEDC-CACA-EC70-C928-C7D8100B2E9B}"/>
              </a:ext>
            </a:extLst>
          </p:cNvPr>
          <p:cNvSpPr/>
          <p:nvPr/>
        </p:nvSpPr>
        <p:spPr>
          <a:xfrm>
            <a:off x="3404076" y="4711242"/>
            <a:ext cx="2045970" cy="331471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dev (b17d6c4)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EA92610-E085-9875-9F9D-9E11D0936A0C}"/>
              </a:ext>
            </a:extLst>
          </p:cNvPr>
          <p:cNvCxnSpPr>
            <a:stCxn id="11" idx="2"/>
            <a:endCxn id="14" idx="0"/>
          </p:cNvCxnSpPr>
          <p:nvPr/>
        </p:nvCxnSpPr>
        <p:spPr>
          <a:xfrm>
            <a:off x="4427061" y="3365970"/>
            <a:ext cx="0" cy="13452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5C204E3C-C5D4-E7D0-78FC-9BCCF7A86F03}"/>
              </a:ext>
            </a:extLst>
          </p:cNvPr>
          <p:cNvCxnSpPr>
            <a:stCxn id="6" idx="2"/>
            <a:endCxn id="14" idx="3"/>
          </p:cNvCxnSpPr>
          <p:nvPr/>
        </p:nvCxnSpPr>
        <p:spPr>
          <a:xfrm rot="5400000">
            <a:off x="5779053" y="4183000"/>
            <a:ext cx="364972" cy="102298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D48C2EC-4E18-F76A-A79C-1CC41835A57B}"/>
              </a:ext>
            </a:extLst>
          </p:cNvPr>
          <p:cNvSpPr/>
          <p:nvPr/>
        </p:nvSpPr>
        <p:spPr>
          <a:xfrm>
            <a:off x="7496016" y="5169398"/>
            <a:ext cx="2045970" cy="331471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chng2 (9af03e8)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65DEA00-93FA-336C-46C4-BC3B53533D10}"/>
              </a:ext>
            </a:extLst>
          </p:cNvPr>
          <p:cNvSpPr/>
          <p:nvPr/>
        </p:nvSpPr>
        <p:spPr>
          <a:xfrm>
            <a:off x="3404076" y="5591104"/>
            <a:ext cx="2045970" cy="331471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dev (2c8e1fa)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4582988-D8AD-32D7-89C0-8C416161F5F2}"/>
              </a:ext>
            </a:extLst>
          </p:cNvPr>
          <p:cNvCxnSpPr>
            <a:stCxn id="8" idx="2"/>
            <a:endCxn id="17" idx="0"/>
          </p:cNvCxnSpPr>
          <p:nvPr/>
        </p:nvCxnSpPr>
        <p:spPr>
          <a:xfrm>
            <a:off x="8519001" y="3831380"/>
            <a:ext cx="0" cy="13380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83AF7598-7C52-A7E7-2180-7E0802DA94DB}"/>
              </a:ext>
            </a:extLst>
          </p:cNvPr>
          <p:cNvCxnSpPr>
            <a:stCxn id="17" idx="2"/>
            <a:endCxn id="18" idx="3"/>
          </p:cNvCxnSpPr>
          <p:nvPr/>
        </p:nvCxnSpPr>
        <p:spPr>
          <a:xfrm rot="5400000">
            <a:off x="6856539" y="4094377"/>
            <a:ext cx="255971" cy="306895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8E014AD-0746-B0CE-A5C9-F0BA1CC5F453}"/>
              </a:ext>
            </a:extLst>
          </p:cNvPr>
          <p:cNvCxnSpPr>
            <a:stCxn id="14" idx="2"/>
            <a:endCxn id="18" idx="0"/>
          </p:cNvCxnSpPr>
          <p:nvPr/>
        </p:nvCxnSpPr>
        <p:spPr>
          <a:xfrm>
            <a:off x="4427061" y="5042713"/>
            <a:ext cx="0" cy="5483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C6DF5482-9130-B5EE-6A20-EE071FD6EE1D}"/>
              </a:ext>
            </a:extLst>
          </p:cNvPr>
          <p:cNvSpPr/>
          <p:nvPr/>
        </p:nvSpPr>
        <p:spPr>
          <a:xfrm>
            <a:off x="1358106" y="6222249"/>
            <a:ext cx="2045970" cy="33147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main (6e91b7d)</a:t>
            </a:r>
          </a:p>
        </p:txBody>
      </p: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4B0936BE-F87C-18C6-0AE8-2383FF2EE8EE}"/>
              </a:ext>
            </a:extLst>
          </p:cNvPr>
          <p:cNvCxnSpPr>
            <a:stCxn id="18" idx="2"/>
            <a:endCxn id="22" idx="3"/>
          </p:cNvCxnSpPr>
          <p:nvPr/>
        </p:nvCxnSpPr>
        <p:spPr>
          <a:xfrm rot="5400000">
            <a:off x="3682864" y="5643788"/>
            <a:ext cx="465410" cy="102298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FE0DC799-FC4C-C6EA-E061-2B15561E8FB1}"/>
              </a:ext>
            </a:extLst>
          </p:cNvPr>
          <p:cNvSpPr txBox="1"/>
          <p:nvPr/>
        </p:nvSpPr>
        <p:spPr>
          <a:xfrm>
            <a:off x="9292590" y="548640"/>
            <a:ext cx="2218373" cy="29718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110000"/>
              </a:lnSpc>
              <a:spcBef>
                <a:spcPts val="1000"/>
              </a:spcBef>
            </a:pPr>
            <a:r>
              <a:rPr lang="en-GB" sz="1600" b="1">
                <a:latin typeface="Arial" panose="020B0604020202020204" pitchFamily="34" charset="0"/>
                <a:cs typeface="Arial" panose="020B0604020202020204" pitchFamily="34" charset="0"/>
              </a:rPr>
              <a:t>Legend: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D4B4EA06-BDFD-A68A-B134-6E6AF28968BD}"/>
              </a:ext>
            </a:extLst>
          </p:cNvPr>
          <p:cNvSpPr/>
          <p:nvPr/>
        </p:nvSpPr>
        <p:spPr>
          <a:xfrm>
            <a:off x="9292590" y="913036"/>
            <a:ext cx="2045970" cy="33147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i="1"/>
              <a:t>Branch Name </a:t>
            </a:r>
            <a:r>
              <a:rPr lang="en-GB" sz="1200"/>
              <a:t>(</a:t>
            </a:r>
            <a:r>
              <a:rPr lang="en-GB" sz="1200" i="1"/>
              <a:t>commit ID</a:t>
            </a:r>
            <a:r>
              <a:rPr lang="en-GB" sz="120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4424971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08D1F0-C3FF-843F-0CF2-AB1062B56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03FFA-625A-F316-7D65-C3853B16B4DC}"/>
              </a:ext>
            </a:extLst>
          </p:cNvPr>
          <p:cNvSpPr txBox="1">
            <a:spLocks/>
          </p:cNvSpPr>
          <p:nvPr/>
        </p:nvSpPr>
        <p:spPr>
          <a:xfrm>
            <a:off x="1296988" y="3096602"/>
            <a:ext cx="9936162" cy="6647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How to Interact with Git</a:t>
            </a:r>
          </a:p>
        </p:txBody>
      </p:sp>
    </p:spTree>
    <p:extLst>
      <p:ext uri="{BB962C8B-B14F-4D97-AF65-F5344CB8AC3E}">
        <p14:creationId xmlns:p14="http://schemas.microsoft.com/office/powerpoint/2010/main" val="12260378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0C2FA-FAF3-7CEF-D442-6E5BC6369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E6207-B514-55FF-B8C1-A4DE81D34810}"/>
              </a:ext>
            </a:extLst>
          </p:cNvPr>
          <p:cNvSpPr txBox="1">
            <a:spLocks/>
          </p:cNvSpPr>
          <p:nvPr/>
        </p:nvSpPr>
        <p:spPr>
          <a:xfrm>
            <a:off x="681037" y="685800"/>
            <a:ext cx="9240838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How to Interact with Git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A4F437-6A31-A577-5BA4-1F13247B584E}"/>
              </a:ext>
            </a:extLst>
          </p:cNvPr>
          <p:cNvSpPr txBox="1">
            <a:spLocks/>
          </p:cNvSpPr>
          <p:nvPr/>
        </p:nvSpPr>
        <p:spPr>
          <a:xfrm>
            <a:off x="681038" y="1606012"/>
            <a:ext cx="11164887" cy="374591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</a:pPr>
            <a:r>
              <a:rPr lang="en-GB" sz="2000" dirty="0"/>
              <a:t>Users can </a:t>
            </a:r>
            <a:r>
              <a:rPr lang="en-GB" sz="2000" b="1" dirty="0">
                <a:solidFill>
                  <a:schemeClr val="accent1"/>
                </a:solidFill>
              </a:rPr>
              <a:t>interact</a:t>
            </a:r>
            <a:r>
              <a:rPr lang="en-GB" sz="2000" dirty="0"/>
              <a:t> with Git in the following ways:</a:t>
            </a:r>
          </a:p>
          <a:p>
            <a:pPr marL="537750" lvl="1" indent="-285750">
              <a:lnSpc>
                <a:spcPct val="150000"/>
              </a:lnSpc>
            </a:pPr>
            <a:r>
              <a:rPr lang="en-GB" sz="2000" dirty="0"/>
              <a:t>Via R or Python </a:t>
            </a:r>
            <a:r>
              <a:rPr lang="en-GB" sz="2000" b="1" dirty="0">
                <a:solidFill>
                  <a:schemeClr val="accent1"/>
                </a:solidFill>
              </a:rPr>
              <a:t>terminals</a:t>
            </a:r>
          </a:p>
          <a:p>
            <a:pPr marL="537750" lvl="1" indent="-285750">
              <a:lnSpc>
                <a:spcPct val="150000"/>
              </a:lnSpc>
            </a:pPr>
            <a:r>
              <a:rPr lang="en-GB" sz="2000" dirty="0"/>
              <a:t>Using </a:t>
            </a:r>
            <a:r>
              <a:rPr lang="en-GB" sz="2000" b="1" dirty="0">
                <a:solidFill>
                  <a:schemeClr val="accent1"/>
                </a:solidFill>
              </a:rPr>
              <a:t>click‑and‑point </a:t>
            </a:r>
            <a:r>
              <a:rPr lang="en-GB" sz="2000" dirty="0"/>
              <a:t>tools (available in most cloud coding environments)</a:t>
            </a:r>
          </a:p>
          <a:p>
            <a:pPr marL="537750" lvl="1" indent="-285750">
              <a:lnSpc>
                <a:spcPct val="150000"/>
              </a:lnSpc>
            </a:pPr>
            <a:r>
              <a:rPr lang="en-GB" sz="2000" dirty="0"/>
              <a:t>Directly through the </a:t>
            </a:r>
            <a:r>
              <a:rPr lang="en-GB" sz="2000" b="1" dirty="0">
                <a:solidFill>
                  <a:schemeClr val="accent1"/>
                </a:solidFill>
              </a:rPr>
              <a:t>GitLab website</a:t>
            </a:r>
          </a:p>
          <a:p>
            <a:pPr marL="285750" indent="-285750">
              <a:lnSpc>
                <a:spcPct val="150000"/>
              </a:lnSpc>
            </a:pPr>
            <a:r>
              <a:rPr lang="en-GB" sz="2000" dirty="0"/>
              <a:t>It is recommended that users become </a:t>
            </a:r>
            <a:r>
              <a:rPr lang="en-GB" sz="2000" b="1" dirty="0">
                <a:solidFill>
                  <a:schemeClr val="accent1"/>
                </a:solidFill>
              </a:rPr>
              <a:t>comfortable</a:t>
            </a:r>
            <a:r>
              <a:rPr lang="en-GB" sz="2000" dirty="0"/>
              <a:t> using the R terminal for most Git commands, as it provides greater functionality. Merge requests are the main </a:t>
            </a:r>
            <a:r>
              <a:rPr lang="en-GB" sz="2000" b="1" dirty="0">
                <a:solidFill>
                  <a:schemeClr val="accent1"/>
                </a:solidFill>
              </a:rPr>
              <a:t>exception</a:t>
            </a:r>
            <a:r>
              <a:rPr lang="en-GB" sz="2000" dirty="0"/>
              <a:t> and are best handled directly in GitLab.</a:t>
            </a:r>
          </a:p>
        </p:txBody>
      </p:sp>
    </p:spTree>
    <p:extLst>
      <p:ext uri="{BB962C8B-B14F-4D97-AF65-F5344CB8AC3E}">
        <p14:creationId xmlns:p14="http://schemas.microsoft.com/office/powerpoint/2010/main" val="36661874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C913A-8576-A3E9-2D3B-AED2580D0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B236A-3150-8B54-C774-92AEBC7A3E33}"/>
              </a:ext>
            </a:extLst>
          </p:cNvPr>
          <p:cNvSpPr txBox="1">
            <a:spLocks/>
          </p:cNvSpPr>
          <p:nvPr/>
        </p:nvSpPr>
        <p:spPr>
          <a:xfrm>
            <a:off x="1296988" y="3096602"/>
            <a:ext cx="9936162" cy="6647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>
                <a:cs typeface="Arial"/>
              </a:rPr>
              <a:t>Local and Remote Repository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984659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B3FAE-8361-3D18-63BB-7941CB6FE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824D2-5748-E666-9765-FDB4F63F81C0}"/>
              </a:ext>
            </a:extLst>
          </p:cNvPr>
          <p:cNvSpPr txBox="1">
            <a:spLocks/>
          </p:cNvSpPr>
          <p:nvPr/>
        </p:nvSpPr>
        <p:spPr>
          <a:xfrm>
            <a:off x="681037" y="685800"/>
            <a:ext cx="9240838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>
                <a:cs typeface="Arial"/>
              </a:rPr>
              <a:t>Difference Between Local &amp; Remote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8E4B5F-8602-A14F-F5F8-6E88CBAB5403}"/>
              </a:ext>
            </a:extLst>
          </p:cNvPr>
          <p:cNvSpPr txBox="1">
            <a:spLocks/>
          </p:cNvSpPr>
          <p:nvPr/>
        </p:nvSpPr>
        <p:spPr>
          <a:xfrm>
            <a:off x="681038" y="1606012"/>
            <a:ext cx="11164887" cy="3745917"/>
          </a:xfrm>
          <a:prstGeom prst="rect">
            <a:avLst/>
          </a:prstGeom>
        </p:spPr>
        <p:txBody>
          <a:bodyPr lIns="0" tIns="0" rIns="0" bIns="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</a:pPr>
            <a:r>
              <a:rPr lang="en-GB" sz="2000" b="1" dirty="0">
                <a:solidFill>
                  <a:schemeClr val="accent1"/>
                </a:solidFill>
                <a:cs typeface="Arial"/>
              </a:rPr>
              <a:t>Local</a:t>
            </a:r>
            <a:r>
              <a:rPr lang="en-GB" sz="2000" dirty="0">
                <a:cs typeface="Arial"/>
              </a:rPr>
              <a:t>: Your copy of the repo on your machine.</a:t>
            </a:r>
            <a:endParaRPr lang="en-GB" dirty="0"/>
          </a:p>
          <a:p>
            <a:pPr marL="285750" indent="-285750">
              <a:lnSpc>
                <a:spcPct val="150000"/>
              </a:lnSpc>
            </a:pPr>
            <a:r>
              <a:rPr lang="en-GB" sz="2000" b="1" dirty="0">
                <a:solidFill>
                  <a:schemeClr val="accent1"/>
                </a:solidFill>
                <a:cs typeface="Arial"/>
              </a:rPr>
              <a:t>Remote</a:t>
            </a:r>
            <a:r>
              <a:rPr lang="en-GB" sz="2000" dirty="0">
                <a:cs typeface="Arial"/>
              </a:rPr>
              <a:t>: The central repo on GitLab.</a:t>
            </a:r>
            <a:endParaRPr lang="en-GB" dirty="0"/>
          </a:p>
          <a:p>
            <a:pPr marL="285750" indent="-285750">
              <a:lnSpc>
                <a:spcPct val="150000"/>
              </a:lnSpc>
            </a:pPr>
            <a:r>
              <a:rPr lang="en-GB" sz="2000" dirty="0">
                <a:cs typeface="Arial"/>
              </a:rPr>
              <a:t>Syncing Changes:</a:t>
            </a:r>
            <a:endParaRPr lang="en-GB" dirty="0"/>
          </a:p>
          <a:p>
            <a:pPr marL="537210" lvl="1" indent="-251460">
              <a:lnSpc>
                <a:spcPct val="150000"/>
              </a:lnSpc>
            </a:pPr>
            <a:r>
              <a:rPr lang="en-GB" sz="2000" b="1" dirty="0">
                <a:cs typeface="Arial"/>
              </a:rPr>
              <a:t>git pull</a:t>
            </a:r>
            <a:r>
              <a:rPr lang="en-GB" sz="2000" dirty="0">
                <a:cs typeface="Arial"/>
              </a:rPr>
              <a:t>: Fetches and updates your current branch.</a:t>
            </a:r>
            <a:endParaRPr lang="en-GB" dirty="0"/>
          </a:p>
          <a:p>
            <a:pPr marL="537210" lvl="1" indent="-251460">
              <a:lnSpc>
                <a:spcPct val="150000"/>
              </a:lnSpc>
            </a:pPr>
            <a:r>
              <a:rPr lang="en-GB" sz="2000" b="1" dirty="0">
                <a:cs typeface="Arial"/>
              </a:rPr>
              <a:t>git fetch</a:t>
            </a:r>
            <a:r>
              <a:rPr lang="en-GB" sz="2000" dirty="0">
                <a:cs typeface="Arial"/>
              </a:rPr>
              <a:t>: Fetches updates </a:t>
            </a:r>
            <a:r>
              <a:rPr lang="en-GB" sz="2000" b="1" dirty="0">
                <a:solidFill>
                  <a:schemeClr val="accent1"/>
                </a:solidFill>
                <a:cs typeface="Arial"/>
              </a:rPr>
              <a:t>without </a:t>
            </a:r>
            <a:r>
              <a:rPr lang="en-GB" sz="2000" dirty="0">
                <a:cs typeface="Arial"/>
              </a:rPr>
              <a:t>changing local branches.</a:t>
            </a:r>
            <a:endParaRPr lang="en-GB" dirty="0"/>
          </a:p>
          <a:p>
            <a:pPr marL="537210" lvl="1" indent="-251460">
              <a:lnSpc>
                <a:spcPct val="150000"/>
              </a:lnSpc>
            </a:pPr>
            <a:r>
              <a:rPr lang="en-GB" sz="2000" b="1" dirty="0">
                <a:cs typeface="Arial"/>
              </a:rPr>
              <a:t>origin</a:t>
            </a:r>
            <a:r>
              <a:rPr lang="en-GB" sz="2000" dirty="0">
                <a:cs typeface="Arial"/>
              </a:rPr>
              <a:t>: Default name for the GitLab remote.</a:t>
            </a:r>
            <a:endParaRPr lang="en-GB" dirty="0"/>
          </a:p>
          <a:p>
            <a:pPr marL="285750" indent="-285750">
              <a:lnSpc>
                <a:spcPct val="150000"/>
              </a:lnSpc>
            </a:pPr>
            <a:r>
              <a:rPr lang="en-GB" sz="2000" dirty="0">
                <a:cs typeface="Arial"/>
              </a:rPr>
              <a:t>Key Point: Local and remote </a:t>
            </a:r>
            <a:r>
              <a:rPr lang="en-GB" sz="2000" b="1" dirty="0">
                <a:solidFill>
                  <a:schemeClr val="accent1"/>
                </a:solidFill>
                <a:cs typeface="Arial"/>
              </a:rPr>
              <a:t>diverge </a:t>
            </a:r>
            <a:r>
              <a:rPr lang="en-GB" sz="2000" dirty="0">
                <a:cs typeface="Arial"/>
              </a:rPr>
              <a:t>over time, so fetch/pull regularly.</a:t>
            </a:r>
            <a:endParaRPr lang="en-GB" dirty="0"/>
          </a:p>
          <a:p>
            <a:pPr marL="285750" indent="-285750">
              <a:lnSpc>
                <a:spcPct val="150000"/>
              </a:lnSpc>
            </a:pPr>
            <a:endParaRPr lang="en-GB" sz="2000" dirty="0">
              <a:cs typeface="Arial"/>
            </a:endParaRPr>
          </a:p>
          <a:p>
            <a:pPr marL="285750" indent="-285750">
              <a:lnSpc>
                <a:spcPct val="150000"/>
              </a:lnSpc>
            </a:pP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1043688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2513FD-22DF-82F8-EA2D-FBDA918D5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57DCC-118C-96D2-3E3D-83482C0D3F6B}"/>
              </a:ext>
            </a:extLst>
          </p:cNvPr>
          <p:cNvSpPr txBox="1">
            <a:spLocks/>
          </p:cNvSpPr>
          <p:nvPr/>
        </p:nvSpPr>
        <p:spPr>
          <a:xfrm>
            <a:off x="1296988" y="2764203"/>
            <a:ext cx="9936162" cy="13295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Switching Branches &amp; Making Changes</a:t>
            </a:r>
          </a:p>
        </p:txBody>
      </p:sp>
    </p:spTree>
    <p:extLst>
      <p:ext uri="{BB962C8B-B14F-4D97-AF65-F5344CB8AC3E}">
        <p14:creationId xmlns:p14="http://schemas.microsoft.com/office/powerpoint/2010/main" val="16001352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300097-E012-E6EE-EB91-E0C412EC1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0E45B-4BB8-58D0-28E2-0EB2457637F1}"/>
              </a:ext>
            </a:extLst>
          </p:cNvPr>
          <p:cNvSpPr txBox="1">
            <a:spLocks/>
          </p:cNvSpPr>
          <p:nvPr/>
        </p:nvSpPr>
        <p:spPr>
          <a:xfrm>
            <a:off x="681037" y="685800"/>
            <a:ext cx="9240838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/>
              <a:t>Switching Branches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B2F9C9-2503-2181-09A5-A843FE4F2C5D}"/>
              </a:ext>
            </a:extLst>
          </p:cNvPr>
          <p:cNvSpPr txBox="1">
            <a:spLocks/>
          </p:cNvSpPr>
          <p:nvPr/>
        </p:nvSpPr>
        <p:spPr>
          <a:xfrm>
            <a:off x="681038" y="1606013"/>
            <a:ext cx="11164887" cy="155937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</a:pPr>
            <a:r>
              <a:rPr lang="en-GB" sz="2000" dirty="0"/>
              <a:t>By default, repositories are cloned to the main branch.</a:t>
            </a:r>
          </a:p>
          <a:p>
            <a:pPr marL="285750" indent="-285750">
              <a:lnSpc>
                <a:spcPct val="150000"/>
              </a:lnSpc>
            </a:pPr>
            <a:r>
              <a:rPr lang="en-GB" sz="2000" dirty="0"/>
              <a:t>To </a:t>
            </a:r>
            <a:r>
              <a:rPr lang="en-GB" sz="2000" b="1" dirty="0">
                <a:solidFill>
                  <a:schemeClr val="accent1"/>
                </a:solidFill>
              </a:rPr>
              <a:t>switch</a:t>
            </a:r>
            <a:r>
              <a:rPr lang="en-GB" sz="2000" dirty="0"/>
              <a:t> to the dev branch (or any other branch), run the following command: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92CFA4-13F9-2789-DC03-9374A7B13E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614" y="3165385"/>
            <a:ext cx="7215642" cy="1559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4854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D571D-E78F-7F83-F066-CAC359A67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AB3CD-D8AA-074A-27EF-F62A3B50D2E6}"/>
              </a:ext>
            </a:extLst>
          </p:cNvPr>
          <p:cNvSpPr txBox="1">
            <a:spLocks/>
          </p:cNvSpPr>
          <p:nvPr/>
        </p:nvSpPr>
        <p:spPr>
          <a:xfrm>
            <a:off x="681037" y="685800"/>
            <a:ext cx="9240838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Making Changes - (1) Using Earlier Example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285496-6EB3-31FD-6C9D-93665B9C6705}"/>
              </a:ext>
            </a:extLst>
          </p:cNvPr>
          <p:cNvSpPr txBox="1">
            <a:spLocks/>
          </p:cNvSpPr>
          <p:nvPr/>
        </p:nvSpPr>
        <p:spPr>
          <a:xfrm>
            <a:off x="7830646" y="1743400"/>
            <a:ext cx="3840679" cy="446093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</a:pPr>
            <a:r>
              <a:rPr lang="en-GB" sz="2000" dirty="0"/>
              <a:t>If you want to </a:t>
            </a:r>
            <a:r>
              <a:rPr lang="en-GB" sz="2000" b="1" dirty="0">
                <a:solidFill>
                  <a:schemeClr val="accent1"/>
                </a:solidFill>
              </a:rPr>
              <a:t>add</a:t>
            </a:r>
            <a:r>
              <a:rPr lang="en-GB" sz="2000" dirty="0"/>
              <a:t> or </a:t>
            </a:r>
            <a:r>
              <a:rPr lang="en-GB" sz="2000" b="1" dirty="0">
                <a:solidFill>
                  <a:schemeClr val="accent1"/>
                </a:solidFill>
              </a:rPr>
              <a:t>modify</a:t>
            </a:r>
            <a:r>
              <a:rPr lang="en-GB" sz="2000" dirty="0"/>
              <a:t> code in the Git repository, create a new branch using the guidance in the following slides.</a:t>
            </a:r>
          </a:p>
          <a:p>
            <a:pPr marL="285750" indent="-285750">
              <a:lnSpc>
                <a:spcPct val="150000"/>
              </a:lnSpc>
            </a:pPr>
            <a:r>
              <a:rPr lang="en-GB" sz="2000" dirty="0"/>
              <a:t>We will use the previous example from </a:t>
            </a:r>
            <a:r>
              <a:rPr lang="en-GB" sz="2000" dirty="0">
                <a:hlinkClick r:id="rId2" action="ppaction://hlinksldjump"/>
              </a:rPr>
              <a:t>this slide </a:t>
            </a:r>
            <a:r>
              <a:rPr lang="en-GB" sz="2000" dirty="0"/>
              <a:t>to demonstrate this on the </a:t>
            </a:r>
            <a:r>
              <a:rPr lang="en-GB" sz="2000" b="1" dirty="0">
                <a:solidFill>
                  <a:schemeClr val="accent1"/>
                </a:solidFill>
              </a:rPr>
              <a:t>next slide.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A3CCB8C-F8E4-EB31-059A-0028508EFBF9}"/>
              </a:ext>
            </a:extLst>
          </p:cNvPr>
          <p:cNvSpPr/>
          <p:nvPr/>
        </p:nvSpPr>
        <p:spPr>
          <a:xfrm>
            <a:off x="1115545" y="1974192"/>
            <a:ext cx="2045970" cy="33147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main (a3f9c2e)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C88EF85-6132-7038-0CFB-842440623F56}"/>
              </a:ext>
            </a:extLst>
          </p:cNvPr>
          <p:cNvSpPr/>
          <p:nvPr/>
        </p:nvSpPr>
        <p:spPr>
          <a:xfrm>
            <a:off x="3161515" y="2509078"/>
            <a:ext cx="2045970" cy="331471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dev (7b41d8a)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78BD47D-9B27-A956-8AFD-C6CAB255A790}"/>
              </a:ext>
            </a:extLst>
          </p:cNvPr>
          <p:cNvSpPr/>
          <p:nvPr/>
        </p:nvSpPr>
        <p:spPr>
          <a:xfrm>
            <a:off x="5207485" y="3043964"/>
            <a:ext cx="2045970" cy="331471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edit1 (c9e2f14)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A2D6AF3-4E77-AA3B-5925-A6D3B5EBA60F}"/>
              </a:ext>
            </a:extLst>
          </p:cNvPr>
          <p:cNvSpPr/>
          <p:nvPr/>
        </p:nvSpPr>
        <p:spPr>
          <a:xfrm>
            <a:off x="5207485" y="4739016"/>
            <a:ext cx="2045970" cy="331471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edit1 (0e4fa92)</a:t>
            </a:r>
          </a:p>
        </p:txBody>
      </p: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18E2068D-0ED5-7E12-2372-5BE973D2E579}"/>
              </a:ext>
            </a:extLst>
          </p:cNvPr>
          <p:cNvCxnSpPr>
            <a:stCxn id="4" idx="3"/>
            <a:endCxn id="5" idx="0"/>
          </p:cNvCxnSpPr>
          <p:nvPr/>
        </p:nvCxnSpPr>
        <p:spPr>
          <a:xfrm>
            <a:off x="3161515" y="2139928"/>
            <a:ext cx="1022985" cy="36915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B3736B40-BEDA-4C7C-2487-C0866CB45C95}"/>
              </a:ext>
            </a:extLst>
          </p:cNvPr>
          <p:cNvCxnSpPr>
            <a:stCxn id="5" idx="3"/>
            <a:endCxn id="6" idx="0"/>
          </p:cNvCxnSpPr>
          <p:nvPr/>
        </p:nvCxnSpPr>
        <p:spPr>
          <a:xfrm>
            <a:off x="5207485" y="2674814"/>
            <a:ext cx="1022985" cy="36915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279DCDA-E143-7653-F444-0663BEBA7A58}"/>
              </a:ext>
            </a:extLst>
          </p:cNvPr>
          <p:cNvCxnSpPr>
            <a:stCxn id="6" idx="2"/>
            <a:endCxn id="7" idx="0"/>
          </p:cNvCxnSpPr>
          <p:nvPr/>
        </p:nvCxnSpPr>
        <p:spPr>
          <a:xfrm>
            <a:off x="6230470" y="3375435"/>
            <a:ext cx="0" cy="13635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5BB7450-9156-1E0C-37C2-D6D5E53B5F51}"/>
              </a:ext>
            </a:extLst>
          </p:cNvPr>
          <p:cNvSpPr/>
          <p:nvPr/>
        </p:nvSpPr>
        <p:spPr>
          <a:xfrm>
            <a:off x="3161515" y="3592980"/>
            <a:ext cx="2045970" cy="331471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dev (5d8b0ac)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2E0CD87-7163-F822-7C41-C03DB0064576}"/>
              </a:ext>
            </a:extLst>
          </p:cNvPr>
          <p:cNvCxnSpPr>
            <a:stCxn id="5" idx="2"/>
            <a:endCxn id="11" idx="0"/>
          </p:cNvCxnSpPr>
          <p:nvPr/>
        </p:nvCxnSpPr>
        <p:spPr>
          <a:xfrm>
            <a:off x="4184500" y="2840549"/>
            <a:ext cx="0" cy="7524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A45EF46-99B0-398D-6777-FF42A5976ACA}"/>
              </a:ext>
            </a:extLst>
          </p:cNvPr>
          <p:cNvSpPr/>
          <p:nvPr/>
        </p:nvSpPr>
        <p:spPr>
          <a:xfrm>
            <a:off x="3161515" y="5269723"/>
            <a:ext cx="2045970" cy="331471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dev (b17d6c4)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8DA715F-F958-4BB8-A04E-AB02CC4163CE}"/>
              </a:ext>
            </a:extLst>
          </p:cNvPr>
          <p:cNvCxnSpPr>
            <a:stCxn id="11" idx="2"/>
            <a:endCxn id="13" idx="0"/>
          </p:cNvCxnSpPr>
          <p:nvPr/>
        </p:nvCxnSpPr>
        <p:spPr>
          <a:xfrm>
            <a:off x="4184500" y="3924451"/>
            <a:ext cx="0" cy="13452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80162145-27E7-AB4E-BE7F-517EA18C1997}"/>
              </a:ext>
            </a:extLst>
          </p:cNvPr>
          <p:cNvCxnSpPr>
            <a:stCxn id="7" idx="2"/>
            <a:endCxn id="13" idx="3"/>
          </p:cNvCxnSpPr>
          <p:nvPr/>
        </p:nvCxnSpPr>
        <p:spPr>
          <a:xfrm rot="5400000">
            <a:off x="5536492" y="4741481"/>
            <a:ext cx="364972" cy="102298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B208FB2C-9133-EB42-A398-63FEB65A42F2}"/>
              </a:ext>
            </a:extLst>
          </p:cNvPr>
          <p:cNvSpPr txBox="1"/>
          <p:nvPr/>
        </p:nvSpPr>
        <p:spPr>
          <a:xfrm>
            <a:off x="681037" y="5839937"/>
            <a:ext cx="2218373" cy="29718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110000"/>
              </a:lnSpc>
              <a:spcBef>
                <a:spcPts val="1000"/>
              </a:spcBef>
            </a:pPr>
            <a:r>
              <a:rPr lang="en-GB" sz="1600" b="1">
                <a:latin typeface="Arial" panose="020B0604020202020204" pitchFamily="34" charset="0"/>
                <a:cs typeface="Arial" panose="020B0604020202020204" pitchFamily="34" charset="0"/>
              </a:rPr>
              <a:t>Legend: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31A53FB-9C5D-3886-62E0-4D06BD1AD1A2}"/>
              </a:ext>
            </a:extLst>
          </p:cNvPr>
          <p:cNvSpPr/>
          <p:nvPr/>
        </p:nvSpPr>
        <p:spPr>
          <a:xfrm>
            <a:off x="681037" y="6204333"/>
            <a:ext cx="2045970" cy="33147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i="1"/>
              <a:t>Branch Name </a:t>
            </a:r>
            <a:r>
              <a:rPr lang="en-GB" sz="1200"/>
              <a:t>(</a:t>
            </a:r>
            <a:r>
              <a:rPr lang="en-GB" sz="1200" i="1"/>
              <a:t>commit ID</a:t>
            </a:r>
            <a:r>
              <a:rPr lang="en-GB" sz="120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568856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B074E8-74B4-6F2A-6D88-B4280DC14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E4879-606F-11E9-468F-D4ABAD8C40CB}"/>
              </a:ext>
            </a:extLst>
          </p:cNvPr>
          <p:cNvSpPr txBox="1">
            <a:spLocks/>
          </p:cNvSpPr>
          <p:nvPr/>
        </p:nvSpPr>
        <p:spPr>
          <a:xfrm>
            <a:off x="681037" y="685800"/>
            <a:ext cx="9240838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Making Changes - (2) Branching Off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0B2776-DCFE-447F-77A3-AFCE5BF8EE7C}"/>
              </a:ext>
            </a:extLst>
          </p:cNvPr>
          <p:cNvSpPr txBox="1">
            <a:spLocks/>
          </p:cNvSpPr>
          <p:nvPr/>
        </p:nvSpPr>
        <p:spPr>
          <a:xfrm>
            <a:off x="591396" y="3684325"/>
            <a:ext cx="11079929" cy="210544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</a:pPr>
            <a:r>
              <a:rPr lang="en-GB" sz="2000" b="1" dirty="0">
                <a:solidFill>
                  <a:schemeClr val="accent1"/>
                </a:solidFill>
              </a:rPr>
              <a:t>Create a new branch</a:t>
            </a:r>
            <a:r>
              <a:rPr lang="en-GB" sz="2000" dirty="0"/>
              <a:t> from dev (the latest stable code). In your </a:t>
            </a:r>
            <a:r>
              <a:rPr lang="en-GB" sz="2000" b="1" dirty="0">
                <a:solidFill>
                  <a:schemeClr val="accent1"/>
                </a:solidFill>
              </a:rPr>
              <a:t>R terminal</a:t>
            </a:r>
            <a:r>
              <a:rPr lang="en-GB" sz="2000" dirty="0"/>
              <a:t>, run the above commands, ensuring you are in the cloned repository directory.</a:t>
            </a:r>
          </a:p>
          <a:p>
            <a:pPr marL="285750" indent="-285750">
              <a:lnSpc>
                <a:spcPct val="150000"/>
              </a:lnSpc>
            </a:pPr>
            <a:r>
              <a:rPr lang="en-GB" sz="2000" dirty="0"/>
              <a:t>These commands </a:t>
            </a:r>
            <a:r>
              <a:rPr lang="en-GB" sz="2000" b="1" dirty="0">
                <a:solidFill>
                  <a:schemeClr val="accent1"/>
                </a:solidFill>
              </a:rPr>
              <a:t>confirm</a:t>
            </a:r>
            <a:r>
              <a:rPr lang="en-GB" sz="2000" dirty="0"/>
              <a:t> you are on the </a:t>
            </a:r>
            <a:r>
              <a:rPr lang="en-GB" sz="2000" b="1" dirty="0">
                <a:solidFill>
                  <a:schemeClr val="accent1"/>
                </a:solidFill>
              </a:rPr>
              <a:t>correct base branch </a:t>
            </a:r>
            <a:r>
              <a:rPr lang="en-GB" sz="2000" dirty="0"/>
              <a:t>and </a:t>
            </a:r>
            <a:r>
              <a:rPr lang="en-GB" sz="2000" b="1" dirty="0">
                <a:solidFill>
                  <a:schemeClr val="accent1"/>
                </a:solidFill>
              </a:rPr>
              <a:t>pull the latest version </a:t>
            </a:r>
            <a:r>
              <a:rPr lang="en-GB" sz="2000" dirty="0"/>
              <a:t>before creating your new branch.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63919CE-366D-B470-CDBB-09DBE8C9D170}"/>
              </a:ext>
            </a:extLst>
          </p:cNvPr>
          <p:cNvSpPr/>
          <p:nvPr/>
        </p:nvSpPr>
        <p:spPr>
          <a:xfrm>
            <a:off x="1115545" y="1974192"/>
            <a:ext cx="2045970" cy="33147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main (a3f9c2e)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0C824A4-7BE5-6570-E206-51E3D265E4FA}"/>
              </a:ext>
            </a:extLst>
          </p:cNvPr>
          <p:cNvSpPr/>
          <p:nvPr/>
        </p:nvSpPr>
        <p:spPr>
          <a:xfrm>
            <a:off x="3161515" y="2509078"/>
            <a:ext cx="2045970" cy="331471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dev (7b41d8a)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8C42943-C455-97A0-5A53-BA885CBCACB8}"/>
              </a:ext>
            </a:extLst>
          </p:cNvPr>
          <p:cNvSpPr/>
          <p:nvPr/>
        </p:nvSpPr>
        <p:spPr>
          <a:xfrm>
            <a:off x="5207485" y="3043964"/>
            <a:ext cx="2045970" cy="331471"/>
          </a:xfrm>
          <a:prstGeom prst="roundRect">
            <a:avLst/>
          </a:prstGeom>
          <a:ln w="57150">
            <a:solidFill>
              <a:srgbClr val="FFFF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edit1 (c9e2f14)</a:t>
            </a:r>
          </a:p>
        </p:txBody>
      </p: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6DE8DBD3-7795-6E7D-CB33-2DC7EEE33D41}"/>
              </a:ext>
            </a:extLst>
          </p:cNvPr>
          <p:cNvCxnSpPr>
            <a:stCxn id="5" idx="3"/>
            <a:endCxn id="6" idx="0"/>
          </p:cNvCxnSpPr>
          <p:nvPr/>
        </p:nvCxnSpPr>
        <p:spPr>
          <a:xfrm>
            <a:off x="3161515" y="2139928"/>
            <a:ext cx="1022985" cy="36915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D891EFAB-D951-61E2-19E4-407C37AF7749}"/>
              </a:ext>
            </a:extLst>
          </p:cNvPr>
          <p:cNvCxnSpPr>
            <a:stCxn id="6" idx="3"/>
            <a:endCxn id="7" idx="0"/>
          </p:cNvCxnSpPr>
          <p:nvPr/>
        </p:nvCxnSpPr>
        <p:spPr>
          <a:xfrm>
            <a:off x="5207485" y="2674814"/>
            <a:ext cx="1022985" cy="369150"/>
          </a:xfrm>
          <a:prstGeom prst="bentConnector2">
            <a:avLst/>
          </a:prstGeom>
          <a:ln w="57150">
            <a:solidFill>
              <a:srgbClr val="FFFF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543BB97E-BFAC-F83B-C923-DFFBCA062A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6485" y="1166412"/>
            <a:ext cx="4294103" cy="226258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1B5BC41-8A4F-A5F8-4766-F7620DB9301A}"/>
              </a:ext>
            </a:extLst>
          </p:cNvPr>
          <p:cNvSpPr txBox="1"/>
          <p:nvPr/>
        </p:nvSpPr>
        <p:spPr>
          <a:xfrm>
            <a:off x="681037" y="5839937"/>
            <a:ext cx="2218373" cy="29718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110000"/>
              </a:lnSpc>
              <a:spcBef>
                <a:spcPts val="1000"/>
              </a:spcBef>
            </a:pPr>
            <a:r>
              <a:rPr lang="en-GB" sz="1600" b="1">
                <a:latin typeface="Arial" panose="020B0604020202020204" pitchFamily="34" charset="0"/>
                <a:cs typeface="Arial" panose="020B0604020202020204" pitchFamily="34" charset="0"/>
              </a:rPr>
              <a:t>Legend: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567B7C0-95AC-DA13-6A39-D7B41E069AEF}"/>
              </a:ext>
            </a:extLst>
          </p:cNvPr>
          <p:cNvSpPr/>
          <p:nvPr/>
        </p:nvSpPr>
        <p:spPr>
          <a:xfrm>
            <a:off x="681037" y="6204333"/>
            <a:ext cx="2045970" cy="33147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i="1"/>
              <a:t>Branch Name </a:t>
            </a:r>
            <a:r>
              <a:rPr lang="en-GB" sz="1200"/>
              <a:t>(</a:t>
            </a:r>
            <a:r>
              <a:rPr lang="en-GB" sz="1200" i="1"/>
              <a:t>commit ID</a:t>
            </a:r>
            <a:r>
              <a:rPr lang="en-GB" sz="120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5823013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6968D-D092-B1F8-CC37-8E4FAE5F04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57185-B62B-16BA-51B5-FC1C68FD55EE}"/>
              </a:ext>
            </a:extLst>
          </p:cNvPr>
          <p:cNvSpPr txBox="1">
            <a:spLocks/>
          </p:cNvSpPr>
          <p:nvPr/>
        </p:nvSpPr>
        <p:spPr>
          <a:xfrm>
            <a:off x="681037" y="685800"/>
            <a:ext cx="9240838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Making Changes - (3) Push Changes to Remote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34395A-B48B-2695-58B0-7DBA7802E785}"/>
              </a:ext>
            </a:extLst>
          </p:cNvPr>
          <p:cNvSpPr txBox="1">
            <a:spLocks/>
          </p:cNvSpPr>
          <p:nvPr/>
        </p:nvSpPr>
        <p:spPr>
          <a:xfrm>
            <a:off x="7929246" y="1413923"/>
            <a:ext cx="3827954" cy="359155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</a:pPr>
            <a:r>
              <a:rPr lang="en-GB" sz="2000" dirty="0"/>
              <a:t>Once you have </a:t>
            </a:r>
            <a:r>
              <a:rPr lang="en-GB" sz="2000" b="1" dirty="0">
                <a:solidFill>
                  <a:schemeClr val="accent1"/>
                </a:solidFill>
              </a:rPr>
              <a:t>made and tested </a:t>
            </a:r>
            <a:r>
              <a:rPr lang="en-GB" sz="2000" dirty="0"/>
              <a:t>your changes, run the commands below.</a:t>
            </a:r>
          </a:p>
          <a:p>
            <a:pPr marL="285750" indent="-285750">
              <a:lnSpc>
                <a:spcPct val="150000"/>
              </a:lnSpc>
            </a:pPr>
            <a:r>
              <a:rPr lang="en-GB" sz="2000" dirty="0"/>
              <a:t>This </a:t>
            </a:r>
            <a:r>
              <a:rPr lang="en-GB" sz="2000" b="1" dirty="0">
                <a:solidFill>
                  <a:schemeClr val="accent1"/>
                </a:solidFill>
              </a:rPr>
              <a:t>pushes</a:t>
            </a:r>
            <a:r>
              <a:rPr lang="en-GB" sz="2000" dirty="0"/>
              <a:t> your new local branch to </a:t>
            </a:r>
            <a:r>
              <a:rPr lang="en-GB" sz="2000" b="1" dirty="0">
                <a:solidFill>
                  <a:schemeClr val="accent1"/>
                </a:solidFill>
              </a:rPr>
              <a:t>the remote repository</a:t>
            </a:r>
            <a:r>
              <a:rPr lang="en-GB" sz="2000" dirty="0"/>
              <a:t>, where it will appear on the GitLab website.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0F05831-8ECA-13FE-EEF1-3B914B834C5C}"/>
              </a:ext>
            </a:extLst>
          </p:cNvPr>
          <p:cNvSpPr/>
          <p:nvPr/>
        </p:nvSpPr>
        <p:spPr>
          <a:xfrm>
            <a:off x="1115545" y="1974192"/>
            <a:ext cx="2045970" cy="33147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main (a3f9c2e)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5C95D30-180E-AC55-CFB0-68C1D93DEB15}"/>
              </a:ext>
            </a:extLst>
          </p:cNvPr>
          <p:cNvSpPr/>
          <p:nvPr/>
        </p:nvSpPr>
        <p:spPr>
          <a:xfrm>
            <a:off x="3161515" y="2509078"/>
            <a:ext cx="2045970" cy="331471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dev (7b41d8a)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D57DAE9-4CF5-F689-230C-3A7CE1079513}"/>
              </a:ext>
            </a:extLst>
          </p:cNvPr>
          <p:cNvSpPr/>
          <p:nvPr/>
        </p:nvSpPr>
        <p:spPr>
          <a:xfrm>
            <a:off x="5207485" y="3043964"/>
            <a:ext cx="2045970" cy="331471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edit1 (c9e2f14)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21AAA22-8277-5971-2F69-A8343F1CFE10}"/>
              </a:ext>
            </a:extLst>
          </p:cNvPr>
          <p:cNvSpPr/>
          <p:nvPr/>
        </p:nvSpPr>
        <p:spPr>
          <a:xfrm>
            <a:off x="5207485" y="4739016"/>
            <a:ext cx="2045970" cy="331471"/>
          </a:xfrm>
          <a:prstGeom prst="roundRect">
            <a:avLst/>
          </a:prstGeom>
          <a:ln w="57150">
            <a:solidFill>
              <a:srgbClr val="FFFF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edit1 (0e4fa92)</a:t>
            </a:r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C3AFD636-DC75-6D33-1CDA-E56444B1A845}"/>
              </a:ext>
            </a:extLst>
          </p:cNvPr>
          <p:cNvCxnSpPr>
            <a:stCxn id="5" idx="3"/>
            <a:endCxn id="6" idx="0"/>
          </p:cNvCxnSpPr>
          <p:nvPr/>
        </p:nvCxnSpPr>
        <p:spPr>
          <a:xfrm>
            <a:off x="3161515" y="2139928"/>
            <a:ext cx="1022985" cy="36915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E52FE1D5-DA1B-F4D1-4E40-3791E1294FB2}"/>
              </a:ext>
            </a:extLst>
          </p:cNvPr>
          <p:cNvCxnSpPr>
            <a:stCxn id="6" idx="3"/>
            <a:endCxn id="7" idx="0"/>
          </p:cNvCxnSpPr>
          <p:nvPr/>
        </p:nvCxnSpPr>
        <p:spPr>
          <a:xfrm>
            <a:off x="5207485" y="2674814"/>
            <a:ext cx="1022985" cy="36915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9FB9DC2-3CEE-5E45-B9C7-9E26359D78FF}"/>
              </a:ext>
            </a:extLst>
          </p:cNvPr>
          <p:cNvCxnSpPr>
            <a:stCxn id="7" idx="2"/>
            <a:endCxn id="8" idx="0"/>
          </p:cNvCxnSpPr>
          <p:nvPr/>
        </p:nvCxnSpPr>
        <p:spPr>
          <a:xfrm>
            <a:off x="6230470" y="3375435"/>
            <a:ext cx="0" cy="1363581"/>
          </a:xfrm>
          <a:prstGeom prst="straightConnector1">
            <a:avLst/>
          </a:prstGeom>
          <a:ln w="5715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45FB6A0-CBC4-AEDE-D555-DC911C248D13}"/>
              </a:ext>
            </a:extLst>
          </p:cNvPr>
          <p:cNvSpPr/>
          <p:nvPr/>
        </p:nvSpPr>
        <p:spPr>
          <a:xfrm>
            <a:off x="3161515" y="3592980"/>
            <a:ext cx="2045970" cy="331471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dev (5d8b0ac)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E4BFDFD-24DD-B4B6-88A6-3C296D22A4FB}"/>
              </a:ext>
            </a:extLst>
          </p:cNvPr>
          <p:cNvCxnSpPr>
            <a:stCxn id="6" idx="2"/>
            <a:endCxn id="12" idx="0"/>
          </p:cNvCxnSpPr>
          <p:nvPr/>
        </p:nvCxnSpPr>
        <p:spPr>
          <a:xfrm>
            <a:off x="4184500" y="2840549"/>
            <a:ext cx="0" cy="7524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CA89FA30-5BCC-D776-D05B-F6BDA227F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4753" y="5070487"/>
            <a:ext cx="4111972" cy="159569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8FA5A89-7A94-2715-2C6D-190C94F807F4}"/>
              </a:ext>
            </a:extLst>
          </p:cNvPr>
          <p:cNvSpPr txBox="1"/>
          <p:nvPr/>
        </p:nvSpPr>
        <p:spPr>
          <a:xfrm>
            <a:off x="681037" y="5839937"/>
            <a:ext cx="2218373" cy="29718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110000"/>
              </a:lnSpc>
              <a:spcBef>
                <a:spcPts val="1000"/>
              </a:spcBef>
            </a:pPr>
            <a:r>
              <a:rPr lang="en-GB" sz="1600" b="1">
                <a:latin typeface="Arial" panose="020B0604020202020204" pitchFamily="34" charset="0"/>
                <a:cs typeface="Arial" panose="020B0604020202020204" pitchFamily="34" charset="0"/>
              </a:rPr>
              <a:t>Legend: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5963C1D-1B01-3D07-9B73-ED91F12CF026}"/>
              </a:ext>
            </a:extLst>
          </p:cNvPr>
          <p:cNvSpPr/>
          <p:nvPr/>
        </p:nvSpPr>
        <p:spPr>
          <a:xfrm>
            <a:off x="681037" y="6204333"/>
            <a:ext cx="2045970" cy="33147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i="1"/>
              <a:t>Branch Name </a:t>
            </a:r>
            <a:r>
              <a:rPr lang="en-GB" sz="1200"/>
              <a:t>(</a:t>
            </a:r>
            <a:r>
              <a:rPr lang="en-GB" sz="1200" i="1"/>
              <a:t>commit ID</a:t>
            </a:r>
            <a:r>
              <a:rPr lang="en-GB" sz="120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870263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619E44-E71A-4A5B-10A4-7BB5E2512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27B33-6E4E-C4E4-BA3E-C35D7FBDD44C}"/>
              </a:ext>
            </a:extLst>
          </p:cNvPr>
          <p:cNvSpPr txBox="1">
            <a:spLocks/>
          </p:cNvSpPr>
          <p:nvPr/>
        </p:nvSpPr>
        <p:spPr>
          <a:xfrm>
            <a:off x="681037" y="685800"/>
            <a:ext cx="9240838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Making Changes - (3) Create Merge Request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BE41CC-6352-52CA-0116-6E52541894EF}"/>
              </a:ext>
            </a:extLst>
          </p:cNvPr>
          <p:cNvSpPr txBox="1">
            <a:spLocks/>
          </p:cNvSpPr>
          <p:nvPr/>
        </p:nvSpPr>
        <p:spPr>
          <a:xfrm>
            <a:off x="7256949" y="1168438"/>
            <a:ext cx="4838593" cy="5518215"/>
          </a:xfrm>
          <a:prstGeom prst="rect">
            <a:avLst/>
          </a:prstGeom>
        </p:spPr>
        <p:txBody>
          <a:bodyPr lIns="0" tIns="0" rIns="0" bIns="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</a:pPr>
            <a:r>
              <a:rPr lang="en-GB" sz="2000" dirty="0"/>
              <a:t>Create a </a:t>
            </a:r>
            <a:r>
              <a:rPr lang="en-GB" sz="2000" b="1" dirty="0">
                <a:solidFill>
                  <a:schemeClr val="accent1"/>
                </a:solidFill>
              </a:rPr>
              <a:t>Merge Request in GitLab </a:t>
            </a:r>
            <a:r>
              <a:rPr lang="en-GB" sz="2000" dirty="0"/>
              <a:t>(webpage):</a:t>
            </a:r>
          </a:p>
          <a:p>
            <a:pPr marL="594360" lvl="1" indent="-342900">
              <a:lnSpc>
                <a:spcPct val="150000"/>
              </a:lnSpc>
            </a:pPr>
            <a:r>
              <a:rPr lang="en-GB" sz="2000" b="1" dirty="0"/>
              <a:t>Source</a:t>
            </a:r>
            <a:r>
              <a:rPr lang="en-GB" sz="2000" dirty="0"/>
              <a:t>: your test branch</a:t>
            </a:r>
          </a:p>
          <a:p>
            <a:pPr marL="594360" lvl="1" indent="-342900">
              <a:lnSpc>
                <a:spcPct val="150000"/>
              </a:lnSpc>
            </a:pPr>
            <a:r>
              <a:rPr lang="en-GB" sz="2000" b="1" dirty="0">
                <a:cs typeface="Arial"/>
              </a:rPr>
              <a:t>Target</a:t>
            </a:r>
            <a:r>
              <a:rPr lang="en-GB" sz="2000" dirty="0">
                <a:cs typeface="Arial"/>
              </a:rPr>
              <a:t>: dev</a:t>
            </a:r>
          </a:p>
          <a:p>
            <a:pPr marL="594360" lvl="1" indent="-342900">
              <a:lnSpc>
                <a:spcPct val="150000"/>
              </a:lnSpc>
            </a:pPr>
            <a:r>
              <a:rPr lang="en-GB" sz="2000" b="1" dirty="0">
                <a:cs typeface="Arial"/>
              </a:rPr>
              <a:t>Select “Choose a template”</a:t>
            </a:r>
            <a:r>
              <a:rPr lang="en-GB" sz="2000" dirty="0">
                <a:cs typeface="Arial"/>
              </a:rPr>
              <a:t> → Select QA Merge Request Template</a:t>
            </a:r>
            <a:endParaRPr lang="en-GB" dirty="0"/>
          </a:p>
          <a:p>
            <a:pPr marL="594360" lvl="1" indent="-342900">
              <a:lnSpc>
                <a:spcPct val="150000"/>
              </a:lnSpc>
            </a:pPr>
            <a:r>
              <a:rPr lang="en-GB" sz="2000" b="1" dirty="0"/>
              <a:t>Assign Reviewer</a:t>
            </a:r>
            <a:r>
              <a:rPr lang="en-GB" sz="2000" dirty="0"/>
              <a:t>: Who you choose to QA.</a:t>
            </a:r>
          </a:p>
          <a:p>
            <a:pPr marL="594360" lvl="1" indent="-342900">
              <a:lnSpc>
                <a:spcPct val="150000"/>
              </a:lnSpc>
            </a:pPr>
            <a:r>
              <a:rPr lang="en-GB" sz="2000" dirty="0"/>
              <a:t>Select “Delete source branch”</a:t>
            </a:r>
          </a:p>
          <a:p>
            <a:pPr marL="594360" lvl="1" indent="-342900">
              <a:lnSpc>
                <a:spcPct val="150000"/>
              </a:lnSpc>
            </a:pPr>
            <a:r>
              <a:rPr lang="en-GB" sz="2000" dirty="0">
                <a:cs typeface="Arial"/>
              </a:rPr>
              <a:t>Resolve any conflicts through </a:t>
            </a:r>
            <a:r>
              <a:rPr lang="en-GB" sz="2000" b="1" dirty="0">
                <a:solidFill>
                  <a:schemeClr val="accent1"/>
                </a:solidFill>
                <a:cs typeface="Arial"/>
              </a:rPr>
              <a:t>GitLab interface</a:t>
            </a:r>
            <a:r>
              <a:rPr lang="en-GB" sz="2000" dirty="0">
                <a:cs typeface="Arial"/>
              </a:rPr>
              <a:t> (easier).</a:t>
            </a:r>
            <a:endParaRPr lang="en-GB" sz="2000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C66D44D-D1A5-BEC8-F120-A36B6FBEFFEE}"/>
              </a:ext>
            </a:extLst>
          </p:cNvPr>
          <p:cNvSpPr/>
          <p:nvPr/>
        </p:nvSpPr>
        <p:spPr>
          <a:xfrm>
            <a:off x="1115545" y="1974192"/>
            <a:ext cx="2045970" cy="33147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main (a3f9c2e)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685C309-7BAB-494D-F07D-8F568580955E}"/>
              </a:ext>
            </a:extLst>
          </p:cNvPr>
          <p:cNvSpPr/>
          <p:nvPr/>
        </p:nvSpPr>
        <p:spPr>
          <a:xfrm>
            <a:off x="3161515" y="2509078"/>
            <a:ext cx="2045970" cy="331471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dev (7b41d8a)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089ACC4-7A37-B3A0-94CB-C17794F703E3}"/>
              </a:ext>
            </a:extLst>
          </p:cNvPr>
          <p:cNvSpPr/>
          <p:nvPr/>
        </p:nvSpPr>
        <p:spPr>
          <a:xfrm>
            <a:off x="5207485" y="3043964"/>
            <a:ext cx="2045970" cy="331471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edit1 (c9e2f14)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D5E99D6-3CA9-6F08-E0FD-D703652E7BBF}"/>
              </a:ext>
            </a:extLst>
          </p:cNvPr>
          <p:cNvSpPr/>
          <p:nvPr/>
        </p:nvSpPr>
        <p:spPr>
          <a:xfrm>
            <a:off x="5207485" y="4739016"/>
            <a:ext cx="2045970" cy="331471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edit1 (0e4fa92)</a:t>
            </a:r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7C178483-0A6C-870B-FAAB-9147E6438BC3}"/>
              </a:ext>
            </a:extLst>
          </p:cNvPr>
          <p:cNvCxnSpPr>
            <a:stCxn id="5" idx="3"/>
            <a:endCxn id="6" idx="0"/>
          </p:cNvCxnSpPr>
          <p:nvPr/>
        </p:nvCxnSpPr>
        <p:spPr>
          <a:xfrm>
            <a:off x="3161515" y="2139928"/>
            <a:ext cx="1022985" cy="36915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A58A2F09-BE73-EC79-D280-D991B42D65BC}"/>
              </a:ext>
            </a:extLst>
          </p:cNvPr>
          <p:cNvCxnSpPr>
            <a:stCxn id="6" idx="3"/>
            <a:endCxn id="7" idx="0"/>
          </p:cNvCxnSpPr>
          <p:nvPr/>
        </p:nvCxnSpPr>
        <p:spPr>
          <a:xfrm>
            <a:off x="5207485" y="2674814"/>
            <a:ext cx="1022985" cy="36915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A8A0714-A357-EBCB-11E0-FC60FF42BC32}"/>
              </a:ext>
            </a:extLst>
          </p:cNvPr>
          <p:cNvCxnSpPr>
            <a:stCxn id="7" idx="2"/>
            <a:endCxn id="8" idx="0"/>
          </p:cNvCxnSpPr>
          <p:nvPr/>
        </p:nvCxnSpPr>
        <p:spPr>
          <a:xfrm>
            <a:off x="6230470" y="3375435"/>
            <a:ext cx="0" cy="13635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588FFF0-CCAF-0A1F-2463-AB510F72D854}"/>
              </a:ext>
            </a:extLst>
          </p:cNvPr>
          <p:cNvSpPr/>
          <p:nvPr/>
        </p:nvSpPr>
        <p:spPr>
          <a:xfrm>
            <a:off x="3161515" y="3592980"/>
            <a:ext cx="2045970" cy="331471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dev (5d8b0ac)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C4E6558-D192-778E-C7E9-47FBFF259F51}"/>
              </a:ext>
            </a:extLst>
          </p:cNvPr>
          <p:cNvCxnSpPr>
            <a:stCxn id="6" idx="2"/>
            <a:endCxn id="12" idx="0"/>
          </p:cNvCxnSpPr>
          <p:nvPr/>
        </p:nvCxnSpPr>
        <p:spPr>
          <a:xfrm>
            <a:off x="4184500" y="2840549"/>
            <a:ext cx="0" cy="7524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5029343-6618-B2F0-D93B-1E5C3AD62B83}"/>
              </a:ext>
            </a:extLst>
          </p:cNvPr>
          <p:cNvSpPr/>
          <p:nvPr/>
        </p:nvSpPr>
        <p:spPr>
          <a:xfrm>
            <a:off x="3161515" y="5269723"/>
            <a:ext cx="2045970" cy="331471"/>
          </a:xfrm>
          <a:prstGeom prst="roundRect">
            <a:avLst/>
          </a:prstGeom>
          <a:ln w="57150">
            <a:solidFill>
              <a:srgbClr val="FFFF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dev (b17d6c4)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655017C-AA25-BD1D-6A69-A1DED1D80944}"/>
              </a:ext>
            </a:extLst>
          </p:cNvPr>
          <p:cNvCxnSpPr>
            <a:stCxn id="12" idx="2"/>
            <a:endCxn id="14" idx="0"/>
          </p:cNvCxnSpPr>
          <p:nvPr/>
        </p:nvCxnSpPr>
        <p:spPr>
          <a:xfrm>
            <a:off x="4184500" y="3924451"/>
            <a:ext cx="0" cy="13452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885D2B76-B850-D2D8-FE50-A59EFFF8B77B}"/>
              </a:ext>
            </a:extLst>
          </p:cNvPr>
          <p:cNvCxnSpPr>
            <a:stCxn id="8" idx="2"/>
            <a:endCxn id="14" idx="3"/>
          </p:cNvCxnSpPr>
          <p:nvPr/>
        </p:nvCxnSpPr>
        <p:spPr>
          <a:xfrm rot="5400000">
            <a:off x="5536492" y="4741481"/>
            <a:ext cx="364972" cy="1022985"/>
          </a:xfrm>
          <a:prstGeom prst="bentConnector2">
            <a:avLst/>
          </a:prstGeom>
          <a:ln w="5715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2A66C447-0675-7407-CFB9-8DEA7BAB18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6041" y="171343"/>
            <a:ext cx="2724530" cy="48584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41606CB-FA8F-2C54-47E7-99DDA89C87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2418" y="57026"/>
            <a:ext cx="2019582" cy="714475"/>
          </a:xfrm>
          <a:prstGeom prst="rect">
            <a:avLst/>
          </a:prstGeom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15F4B47-F3B7-E16F-2853-96926645259A}"/>
              </a:ext>
            </a:extLst>
          </p:cNvPr>
          <p:cNvCxnSpPr>
            <a:stCxn id="17" idx="3"/>
            <a:endCxn id="18" idx="1"/>
          </p:cNvCxnSpPr>
          <p:nvPr/>
        </p:nvCxnSpPr>
        <p:spPr>
          <a:xfrm flipV="1">
            <a:off x="9440571" y="414264"/>
            <a:ext cx="731847" cy="1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39E155C-974A-8D39-9275-EA5B1CCBEB3F}"/>
              </a:ext>
            </a:extLst>
          </p:cNvPr>
          <p:cNvSpPr txBox="1"/>
          <p:nvPr/>
        </p:nvSpPr>
        <p:spPr>
          <a:xfrm>
            <a:off x="681037" y="5839937"/>
            <a:ext cx="2218373" cy="29718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110000"/>
              </a:lnSpc>
              <a:spcBef>
                <a:spcPts val="1000"/>
              </a:spcBef>
            </a:pPr>
            <a:r>
              <a:rPr lang="en-GB" sz="1600" b="1">
                <a:latin typeface="Arial" panose="020B0604020202020204" pitchFamily="34" charset="0"/>
                <a:cs typeface="Arial" panose="020B0604020202020204" pitchFamily="34" charset="0"/>
              </a:rPr>
              <a:t>Legend: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ABEEC42A-62AD-E8DD-A7F2-4C81BFFA365E}"/>
              </a:ext>
            </a:extLst>
          </p:cNvPr>
          <p:cNvSpPr/>
          <p:nvPr/>
        </p:nvSpPr>
        <p:spPr>
          <a:xfrm>
            <a:off x="681037" y="6204333"/>
            <a:ext cx="2045970" cy="33147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i="1"/>
              <a:t>Branch Name </a:t>
            </a:r>
            <a:r>
              <a:rPr lang="en-GB" sz="1200"/>
              <a:t>(</a:t>
            </a:r>
            <a:r>
              <a:rPr lang="en-GB" sz="1200" i="1"/>
              <a:t>commit ID</a:t>
            </a:r>
            <a:r>
              <a:rPr lang="en-GB" sz="120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4096816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ED4D49-56BE-A27A-D623-B5C83A14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08C86-C66E-1A3A-CC1D-C961EF988BD2}"/>
              </a:ext>
            </a:extLst>
          </p:cNvPr>
          <p:cNvSpPr txBox="1">
            <a:spLocks/>
          </p:cNvSpPr>
          <p:nvPr/>
        </p:nvSpPr>
        <p:spPr>
          <a:xfrm>
            <a:off x="681037" y="685800"/>
            <a:ext cx="9240838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Making Changes - (4) QA and Merge Changes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F86141-6ABB-2F09-FD6E-E12E4C0D96E5}"/>
              </a:ext>
            </a:extLst>
          </p:cNvPr>
          <p:cNvSpPr txBox="1">
            <a:spLocks/>
          </p:cNvSpPr>
          <p:nvPr/>
        </p:nvSpPr>
        <p:spPr>
          <a:xfrm>
            <a:off x="681038" y="1606012"/>
            <a:ext cx="11164887" cy="4163191"/>
          </a:xfrm>
          <a:prstGeom prst="rect">
            <a:avLst/>
          </a:prstGeom>
        </p:spPr>
        <p:txBody>
          <a:bodyPr lIns="0" tIns="0" rIns="0" bIns="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</a:pPr>
            <a:r>
              <a:rPr lang="en-GB" sz="2000" dirty="0">
                <a:cs typeface="Arial"/>
              </a:rPr>
              <a:t>All merge requests must be independently </a:t>
            </a:r>
            <a:r>
              <a:rPr lang="en-GB" sz="2000" b="1" dirty="0">
                <a:solidFill>
                  <a:schemeClr val="accent1"/>
                </a:solidFill>
                <a:cs typeface="Arial"/>
              </a:rPr>
              <a:t>QA‑reviewed</a:t>
            </a:r>
            <a:r>
              <a:rPr lang="en-GB" sz="2000" dirty="0">
                <a:cs typeface="Arial"/>
              </a:rPr>
              <a:t> before merging to dev.</a:t>
            </a:r>
            <a:endParaRPr lang="en-US" dirty="0">
              <a:cs typeface="Arial"/>
            </a:endParaRPr>
          </a:p>
          <a:p>
            <a:pPr marL="342900" indent="-342900">
              <a:lnSpc>
                <a:spcPct val="150000"/>
              </a:lnSpc>
            </a:pPr>
            <a:r>
              <a:rPr lang="en-GB" sz="2000" dirty="0">
                <a:cs typeface="Arial"/>
              </a:rPr>
              <a:t>QA is documented in the </a:t>
            </a:r>
            <a:r>
              <a:rPr lang="en-GB" sz="2000" b="1" dirty="0">
                <a:solidFill>
                  <a:schemeClr val="accent1"/>
                </a:solidFill>
                <a:cs typeface="Arial"/>
              </a:rPr>
              <a:t>merge request using the QA Merge Request Template</a:t>
            </a:r>
            <a:r>
              <a:rPr lang="en-GB" sz="2000" dirty="0">
                <a:cs typeface="Arial"/>
              </a:rPr>
              <a:t>.</a:t>
            </a:r>
            <a:endParaRPr lang="en-GB" dirty="0">
              <a:cs typeface="Arial"/>
            </a:endParaRPr>
          </a:p>
          <a:p>
            <a:pPr marL="342900" indent="-342900">
              <a:lnSpc>
                <a:spcPct val="150000"/>
              </a:lnSpc>
            </a:pPr>
            <a:r>
              <a:rPr lang="en-GB" sz="2000" dirty="0">
                <a:cs typeface="Arial"/>
              </a:rPr>
              <a:t>The analyst completes the</a:t>
            </a:r>
            <a:r>
              <a:rPr lang="en-GB" sz="2000" b="1" dirty="0">
                <a:solidFill>
                  <a:schemeClr val="accent1"/>
                </a:solidFill>
                <a:cs typeface="Arial"/>
              </a:rPr>
              <a:t> Analyst sections </a:t>
            </a:r>
            <a:r>
              <a:rPr lang="en-GB" sz="2000" dirty="0">
                <a:cs typeface="Arial"/>
              </a:rPr>
              <a:t>and assigns a reviewer to complete the</a:t>
            </a:r>
            <a:r>
              <a:rPr lang="en-GB" sz="2000" b="1" dirty="0">
                <a:solidFill>
                  <a:schemeClr val="accent1"/>
                </a:solidFill>
                <a:cs typeface="Arial"/>
              </a:rPr>
              <a:t> QA reviewer sections</a:t>
            </a:r>
            <a:r>
              <a:rPr lang="en-GB" sz="2000" dirty="0">
                <a:cs typeface="Arial"/>
              </a:rPr>
              <a:t>.</a:t>
            </a:r>
            <a:endParaRPr lang="en-GB" dirty="0">
              <a:cs typeface="Arial"/>
            </a:endParaRPr>
          </a:p>
          <a:p>
            <a:pPr marL="342900" indent="-342900">
              <a:lnSpc>
                <a:spcPct val="150000"/>
              </a:lnSpc>
            </a:pPr>
            <a:r>
              <a:rPr lang="en-GB" sz="2000" dirty="0">
                <a:cs typeface="Arial"/>
              </a:rPr>
              <a:t>Record all </a:t>
            </a:r>
            <a:r>
              <a:rPr lang="en-GB" sz="2000" b="1" dirty="0">
                <a:solidFill>
                  <a:schemeClr val="accent1"/>
                </a:solidFill>
                <a:cs typeface="Arial"/>
              </a:rPr>
              <a:t>assumptions</a:t>
            </a:r>
            <a:r>
              <a:rPr lang="en-GB" sz="2000" dirty="0">
                <a:cs typeface="Arial"/>
              </a:rPr>
              <a:t>, </a:t>
            </a:r>
            <a:r>
              <a:rPr lang="en-GB" sz="2000" b="1" dirty="0">
                <a:solidFill>
                  <a:schemeClr val="accent1"/>
                </a:solidFill>
                <a:cs typeface="Arial"/>
              </a:rPr>
              <a:t>decisions</a:t>
            </a:r>
            <a:r>
              <a:rPr lang="en-GB" sz="2000" dirty="0">
                <a:cs typeface="Arial"/>
              </a:rPr>
              <a:t>, and </a:t>
            </a:r>
            <a:r>
              <a:rPr lang="en-GB" sz="2000" b="1" dirty="0">
                <a:solidFill>
                  <a:schemeClr val="accent1"/>
                </a:solidFill>
                <a:cs typeface="Arial"/>
              </a:rPr>
              <a:t>limitations </a:t>
            </a:r>
            <a:r>
              <a:rPr lang="en-GB" sz="2000" dirty="0">
                <a:cs typeface="Arial"/>
              </a:rPr>
              <a:t>related to the changes separately in the AD&amp;L Log (including the merge request ID).</a:t>
            </a:r>
            <a:endParaRPr lang="en-GB" dirty="0"/>
          </a:p>
          <a:p>
            <a:pPr marL="342900" indent="-342900">
              <a:lnSpc>
                <a:spcPct val="150000"/>
              </a:lnSpc>
            </a:pPr>
            <a:r>
              <a:rPr lang="en-GB" sz="2000" dirty="0">
                <a:cs typeface="Arial"/>
              </a:rPr>
              <a:t>Resolve all QA issues before merging; once complete, select Merge.</a:t>
            </a:r>
            <a:endParaRPr lang="en-GB" dirty="0">
              <a:cs typeface="Arial"/>
            </a:endParaRPr>
          </a:p>
          <a:p>
            <a:pPr marL="342900" indent="-342900">
              <a:lnSpc>
                <a:spcPct val="150000"/>
              </a:lnSpc>
            </a:pP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1625800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206223-0F8A-DE7F-4724-490390301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2CBCB-0932-2E56-EE76-C6BDD5907729}"/>
              </a:ext>
            </a:extLst>
          </p:cNvPr>
          <p:cNvSpPr txBox="1">
            <a:spLocks/>
          </p:cNvSpPr>
          <p:nvPr/>
        </p:nvSpPr>
        <p:spPr>
          <a:xfrm>
            <a:off x="681037" y="685800"/>
            <a:ext cx="9240838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>
                <a:cs typeface="Arial"/>
              </a:rPr>
              <a:t>Making Changes - (5) Prevent Conflicts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CB8E99-E07A-151D-A770-BC6FEFBD2BB8}"/>
              </a:ext>
            </a:extLst>
          </p:cNvPr>
          <p:cNvSpPr txBox="1">
            <a:spLocks/>
          </p:cNvSpPr>
          <p:nvPr/>
        </p:nvSpPr>
        <p:spPr>
          <a:xfrm>
            <a:off x="681038" y="1606012"/>
            <a:ext cx="11164887" cy="4163191"/>
          </a:xfrm>
          <a:prstGeom prst="rect">
            <a:avLst/>
          </a:prstGeom>
        </p:spPr>
        <p:txBody>
          <a:bodyPr lIns="0" tIns="0" rIns="0" bIns="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</a:pPr>
            <a:r>
              <a:rPr lang="en-GB" sz="2000" dirty="0">
                <a:cs typeface="Arial"/>
              </a:rPr>
              <a:t>Below are a few general points to follow to </a:t>
            </a:r>
            <a:r>
              <a:rPr lang="en-GB" sz="2000" b="1" dirty="0">
                <a:solidFill>
                  <a:schemeClr val="accent1"/>
                </a:solidFill>
                <a:cs typeface="Arial"/>
              </a:rPr>
              <a:t>prevent merge conflicts</a:t>
            </a:r>
            <a:r>
              <a:rPr lang="en-GB" sz="2000" dirty="0">
                <a:cs typeface="Arial"/>
              </a:rPr>
              <a:t>:</a:t>
            </a:r>
          </a:p>
          <a:p>
            <a:pPr marL="594360" lvl="1" indent="-251460">
              <a:lnSpc>
                <a:spcPct val="150000"/>
              </a:lnSpc>
              <a:buFont typeface="Courier New" panose="020B0604020202020204" pitchFamily="34" charset="0"/>
              <a:buChar char="o"/>
            </a:pPr>
            <a:r>
              <a:rPr lang="en-GB" sz="2000" b="1" dirty="0">
                <a:solidFill>
                  <a:schemeClr val="accent1"/>
                </a:solidFill>
                <a:cs typeface="Arial"/>
              </a:rPr>
              <a:t>One person, one branch</a:t>
            </a:r>
            <a:r>
              <a:rPr lang="en-GB" sz="2000" dirty="0">
                <a:cs typeface="Arial"/>
              </a:rPr>
              <a:t>: Don’t work on the same branch as someone else unless you’ve clearly agreed who is changing what.</a:t>
            </a:r>
          </a:p>
          <a:p>
            <a:pPr marL="594360" lvl="1" indent="-251460">
              <a:lnSpc>
                <a:spcPct val="150000"/>
              </a:lnSpc>
              <a:buFont typeface="Courier New" panose="020B0604020202020204" pitchFamily="34" charset="0"/>
              <a:buChar char="o"/>
            </a:pPr>
            <a:r>
              <a:rPr lang="en-GB" sz="2000" b="1" dirty="0">
                <a:solidFill>
                  <a:schemeClr val="accent1"/>
                </a:solidFill>
                <a:cs typeface="Arial"/>
              </a:rPr>
              <a:t>Pull before you start and before you push</a:t>
            </a:r>
            <a:r>
              <a:rPr lang="en-GB" sz="2000" dirty="0">
                <a:cs typeface="Arial"/>
              </a:rPr>
              <a:t>: Make sure your code is up to date with dev to avoid surprises later.</a:t>
            </a:r>
            <a:endParaRPr lang="en-GB" dirty="0"/>
          </a:p>
          <a:p>
            <a:pPr marL="594360" lvl="1" indent="-251460">
              <a:lnSpc>
                <a:spcPct val="150000"/>
              </a:lnSpc>
              <a:buFont typeface="Courier New" panose="020B0604020202020204" pitchFamily="34" charset="0"/>
              <a:buChar char="o"/>
            </a:pPr>
            <a:r>
              <a:rPr lang="en-GB" sz="2000" b="1" dirty="0">
                <a:solidFill>
                  <a:schemeClr val="accent1"/>
                </a:solidFill>
                <a:cs typeface="Arial"/>
              </a:rPr>
              <a:t>Keep changes small</a:t>
            </a:r>
            <a:r>
              <a:rPr lang="en-GB" sz="2000" dirty="0">
                <a:cs typeface="Arial"/>
              </a:rPr>
              <a:t>: One task per branch — big, mixed changes are more likely to clash.</a:t>
            </a:r>
            <a:endParaRPr lang="en-GB" dirty="0"/>
          </a:p>
          <a:p>
            <a:pPr marL="594360" lvl="1" indent="-251460">
              <a:lnSpc>
                <a:spcPct val="150000"/>
              </a:lnSpc>
              <a:buFont typeface="Courier New" panose="020B0604020202020204" pitchFamily="34" charset="0"/>
              <a:buChar char="o"/>
            </a:pPr>
            <a:r>
              <a:rPr lang="en-GB" sz="2000" b="1" dirty="0">
                <a:solidFill>
                  <a:schemeClr val="accent1"/>
                </a:solidFill>
                <a:cs typeface="Arial"/>
              </a:rPr>
              <a:t>Avoid accidental edits</a:t>
            </a:r>
            <a:r>
              <a:rPr lang="en-GB" sz="2000" dirty="0">
                <a:cs typeface="Arial"/>
              </a:rPr>
              <a:t>: Even extra spaces, new lines, or formatting changes can cause conflicts — only change what you need.</a:t>
            </a:r>
            <a:endParaRPr lang="en-GB" dirty="0"/>
          </a:p>
          <a:p>
            <a:pPr marL="342900" indent="-342900">
              <a:lnSpc>
                <a:spcPct val="150000"/>
              </a:lnSpc>
            </a:pPr>
            <a:endParaRPr lang="en-GB" sz="2000" dirty="0">
              <a:cs typeface="Arial"/>
            </a:endParaRPr>
          </a:p>
          <a:p>
            <a:pPr marL="342900" indent="-342900">
              <a:lnSpc>
                <a:spcPct val="150000"/>
              </a:lnSpc>
            </a:pPr>
            <a:endParaRPr lang="en-GB" sz="2000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437766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27E021-98B0-BDDA-27E3-63D5B8B3D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7B31C-7F65-FF58-798F-3D10C5EC1B5A}"/>
              </a:ext>
            </a:extLst>
          </p:cNvPr>
          <p:cNvSpPr txBox="1">
            <a:spLocks/>
          </p:cNvSpPr>
          <p:nvPr/>
        </p:nvSpPr>
        <p:spPr>
          <a:xfrm>
            <a:off x="681037" y="685800"/>
            <a:ext cx="9240838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More Guidance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57C94E-3242-D39F-4215-A0EDCFFB8DD3}"/>
              </a:ext>
            </a:extLst>
          </p:cNvPr>
          <p:cNvSpPr txBox="1">
            <a:spLocks/>
          </p:cNvSpPr>
          <p:nvPr/>
        </p:nvSpPr>
        <p:spPr>
          <a:xfrm>
            <a:off x="681038" y="1606012"/>
            <a:ext cx="11164887" cy="416319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</a:pPr>
            <a:r>
              <a:rPr lang="en-GB" sz="2000" dirty="0"/>
              <a:t>More guidance on all the above relating to switching branches and making changes can be found in the GitLab repo’s README under ‘Want to Make Changes?’.</a:t>
            </a:r>
          </a:p>
        </p:txBody>
      </p:sp>
    </p:spTree>
    <p:extLst>
      <p:ext uri="{BB962C8B-B14F-4D97-AF65-F5344CB8AC3E}">
        <p14:creationId xmlns:p14="http://schemas.microsoft.com/office/powerpoint/2010/main" val="38634130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40588-6E30-8FC5-A7C6-C039BD584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A7387-47BD-0979-13E5-85F2A2932844}"/>
              </a:ext>
            </a:extLst>
          </p:cNvPr>
          <p:cNvSpPr txBox="1">
            <a:spLocks/>
          </p:cNvSpPr>
          <p:nvPr/>
        </p:nvSpPr>
        <p:spPr>
          <a:xfrm>
            <a:off x="1296988" y="3096602"/>
            <a:ext cx="9936162" cy="6647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Rebasing Branches</a:t>
            </a:r>
          </a:p>
        </p:txBody>
      </p:sp>
    </p:spTree>
    <p:extLst>
      <p:ext uri="{BB962C8B-B14F-4D97-AF65-F5344CB8AC3E}">
        <p14:creationId xmlns:p14="http://schemas.microsoft.com/office/powerpoint/2010/main" val="8008238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786E6E-4414-A759-391E-E53FD1978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B2A8E-315E-4AC4-75F9-712C459D2255}"/>
              </a:ext>
            </a:extLst>
          </p:cNvPr>
          <p:cNvSpPr txBox="1">
            <a:spLocks/>
          </p:cNvSpPr>
          <p:nvPr/>
        </p:nvSpPr>
        <p:spPr>
          <a:xfrm>
            <a:off x="681037" y="685800"/>
            <a:ext cx="9240838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Keep Working Branches Up-to-date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F4868F-D52C-30F1-90A1-2B6541E2EABB}"/>
              </a:ext>
            </a:extLst>
          </p:cNvPr>
          <p:cNvSpPr txBox="1">
            <a:spLocks/>
          </p:cNvSpPr>
          <p:nvPr/>
        </p:nvSpPr>
        <p:spPr>
          <a:xfrm>
            <a:off x="681038" y="1606012"/>
            <a:ext cx="11164887" cy="435388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</a:pPr>
            <a:r>
              <a:rPr lang="en-GB" sz="2000" dirty="0"/>
              <a:t>Working on a feature branch can take time before it is ready to merge. During this period, </a:t>
            </a:r>
            <a:r>
              <a:rPr lang="en-GB" sz="2000" b="1" dirty="0">
                <a:solidFill>
                  <a:schemeClr val="accent1"/>
                </a:solidFill>
              </a:rPr>
              <a:t>other</a:t>
            </a:r>
            <a:r>
              <a:rPr lang="en-GB" sz="2000" b="1" dirty="0">
                <a:solidFill>
                  <a:srgbClr val="008080"/>
                </a:solidFill>
              </a:rPr>
              <a:t> </a:t>
            </a:r>
            <a:r>
              <a:rPr lang="en-GB" sz="2000" b="1" dirty="0">
                <a:solidFill>
                  <a:schemeClr val="accent1"/>
                </a:solidFill>
              </a:rPr>
              <a:t>changes may be merged into dev</a:t>
            </a:r>
            <a:r>
              <a:rPr lang="en-GB" sz="2000" dirty="0"/>
              <a:t>, causing your branch to become outdated and increasing the risk of merge conflicts.</a:t>
            </a:r>
          </a:p>
          <a:p>
            <a:pPr marL="342900" indent="-342900">
              <a:lnSpc>
                <a:spcPct val="150000"/>
              </a:lnSpc>
            </a:pPr>
            <a:r>
              <a:rPr lang="en-GB" sz="2000" dirty="0"/>
              <a:t>The chng2 branch shown on </a:t>
            </a:r>
            <a:r>
              <a:rPr lang="en-GB" sz="2000" dirty="0">
                <a:hlinkClick r:id="rId2" action="ppaction://hlinksldjump"/>
              </a:rPr>
              <a:t>this slide </a:t>
            </a:r>
            <a:r>
              <a:rPr lang="en-GB" sz="2000" dirty="0"/>
              <a:t>is an example of this situation.</a:t>
            </a:r>
          </a:p>
          <a:p>
            <a:pPr marL="342900" indent="-342900">
              <a:lnSpc>
                <a:spcPct val="150000"/>
              </a:lnSpc>
            </a:pPr>
            <a:r>
              <a:rPr lang="en-GB" sz="2000" dirty="0"/>
              <a:t>To avoid this, you can regularly update your branch with the latest changes from dev.</a:t>
            </a:r>
          </a:p>
          <a:p>
            <a:pPr marL="342900" indent="-342900">
              <a:lnSpc>
                <a:spcPct val="150000"/>
              </a:lnSpc>
            </a:pPr>
            <a:r>
              <a:rPr lang="en-GB" sz="2000" dirty="0"/>
              <a:t>This process is known as </a:t>
            </a:r>
            <a:r>
              <a:rPr lang="en-GB" sz="2000" b="1" dirty="0">
                <a:solidFill>
                  <a:schemeClr val="accent1"/>
                </a:solidFill>
              </a:rPr>
              <a:t>rebasing</a:t>
            </a:r>
            <a:r>
              <a:rPr lang="en-GB" sz="2000" dirty="0"/>
              <a:t>.</a:t>
            </a:r>
          </a:p>
          <a:p>
            <a:pPr marL="342900" indent="-342900">
              <a:lnSpc>
                <a:spcPct val="150000"/>
              </a:lnSpc>
            </a:pPr>
            <a:r>
              <a:rPr lang="en-GB" sz="2000" dirty="0"/>
              <a:t>See the GitLab README under “Want to Make Changes?” for guidance on how to rebase your branch.</a:t>
            </a:r>
          </a:p>
        </p:txBody>
      </p:sp>
    </p:spTree>
    <p:extLst>
      <p:ext uri="{BB962C8B-B14F-4D97-AF65-F5344CB8AC3E}">
        <p14:creationId xmlns:p14="http://schemas.microsoft.com/office/powerpoint/2010/main" val="25091102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35C64C-891A-99AD-AD04-6449E987B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3FD81-78D9-956D-8DC1-6CC1F9914462}"/>
              </a:ext>
            </a:extLst>
          </p:cNvPr>
          <p:cNvSpPr txBox="1">
            <a:spLocks/>
          </p:cNvSpPr>
          <p:nvPr/>
        </p:nvSpPr>
        <p:spPr>
          <a:xfrm>
            <a:off x="1296988" y="3096602"/>
            <a:ext cx="9936162" cy="6647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>
                <a:cs typeface="Arial"/>
              </a:rPr>
              <a:t>Deleting Branches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6193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89CC27-5B5E-2582-ED6E-CBC6C200B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D8AB79E-066F-1952-A887-414923AD1711}"/>
              </a:ext>
            </a:extLst>
          </p:cNvPr>
          <p:cNvSpPr txBox="1">
            <a:spLocks/>
          </p:cNvSpPr>
          <p:nvPr/>
        </p:nvSpPr>
        <p:spPr>
          <a:xfrm>
            <a:off x="681037" y="685800"/>
            <a:ext cx="9240838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>
                <a:cs typeface="Arial"/>
              </a:rPr>
              <a:t>Different Delete Options</a:t>
            </a:r>
            <a:endParaRPr lang="en-GB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035C035C-BBD8-8A03-3C52-F490679B9936}"/>
              </a:ext>
            </a:extLst>
          </p:cNvPr>
          <p:cNvSpPr txBox="1">
            <a:spLocks/>
          </p:cNvSpPr>
          <p:nvPr/>
        </p:nvSpPr>
        <p:spPr>
          <a:xfrm>
            <a:off x="681038" y="1447860"/>
            <a:ext cx="11356633" cy="5230732"/>
          </a:xfrm>
          <a:prstGeom prst="rect">
            <a:avLst/>
          </a:prstGeom>
        </p:spPr>
        <p:txBody>
          <a:bodyPr lIns="0" tIns="0" rIns="0" bIns="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</a:pPr>
            <a:r>
              <a:rPr lang="en-GB" sz="2000" b="1" dirty="0">
                <a:solidFill>
                  <a:schemeClr val="accent1"/>
                </a:solidFill>
                <a:cs typeface="Arial"/>
              </a:rPr>
              <a:t>Remote branch</a:t>
            </a:r>
            <a:r>
              <a:rPr lang="en-GB" sz="2000" dirty="0">
                <a:cs typeface="Arial"/>
              </a:rPr>
              <a:t> (GitLab):</a:t>
            </a:r>
            <a:endParaRPr lang="en-US" dirty="0"/>
          </a:p>
          <a:p>
            <a:pPr marL="594360" lvl="1" indent="-251460">
              <a:lnSpc>
                <a:spcPct val="150000"/>
              </a:lnSpc>
              <a:buFont typeface="Courier New" panose="020B0604020202020204" pitchFamily="34" charset="0"/>
              <a:buChar char="o"/>
            </a:pPr>
            <a:r>
              <a:rPr lang="en-GB" sz="2000" dirty="0">
                <a:cs typeface="Arial"/>
              </a:rPr>
              <a:t>Deletes </a:t>
            </a:r>
            <a:r>
              <a:rPr lang="en-GB" sz="2000" dirty="0">
                <a:solidFill>
                  <a:srgbClr val="0B0C0C"/>
                </a:solidFill>
                <a:cs typeface="Arial"/>
              </a:rPr>
              <a:t>the </a:t>
            </a:r>
            <a:r>
              <a:rPr lang="en-GB" sz="2000" dirty="0">
                <a:cs typeface="Arial"/>
              </a:rPr>
              <a:t>branch from the shared GitLab repository</a:t>
            </a:r>
            <a:endParaRPr lang="en-GB" dirty="0"/>
          </a:p>
          <a:p>
            <a:pPr marL="594360" lvl="1" indent="-251460">
              <a:lnSpc>
                <a:spcPct val="150000"/>
              </a:lnSpc>
              <a:buFont typeface="Courier New" panose="020B0604020202020204" pitchFamily="34" charset="0"/>
              <a:buChar char="o"/>
            </a:pPr>
            <a:r>
              <a:rPr lang="en-GB" sz="2000" dirty="0">
                <a:cs typeface="Arial"/>
              </a:rPr>
              <a:t>Use when a branch is no longer needed by anyone</a:t>
            </a:r>
            <a:endParaRPr lang="en-GB" dirty="0"/>
          </a:p>
          <a:p>
            <a:pPr marL="342900" indent="-342900">
              <a:lnSpc>
                <a:spcPct val="150000"/>
              </a:lnSpc>
            </a:pPr>
            <a:r>
              <a:rPr lang="en-GB" sz="2000" b="1" dirty="0">
                <a:solidFill>
                  <a:schemeClr val="accent1"/>
                </a:solidFill>
                <a:cs typeface="Arial"/>
              </a:rPr>
              <a:t>Local branch</a:t>
            </a:r>
            <a:r>
              <a:rPr lang="en-GB" sz="2000" dirty="0">
                <a:cs typeface="Arial"/>
              </a:rPr>
              <a:t>:</a:t>
            </a:r>
            <a:endParaRPr lang="en-GB" dirty="0">
              <a:cs typeface="Arial"/>
            </a:endParaRPr>
          </a:p>
          <a:p>
            <a:pPr marL="594360" lvl="1" indent="-251460">
              <a:lnSpc>
                <a:spcPct val="150000"/>
              </a:lnSpc>
              <a:buFont typeface="Courier New" panose="020B0604020202020204" pitchFamily="34" charset="0"/>
              <a:buChar char="o"/>
            </a:pPr>
            <a:r>
              <a:rPr lang="en-GB" sz="2000" dirty="0">
                <a:cs typeface="Arial"/>
              </a:rPr>
              <a:t>Removes the branch from your local machine</a:t>
            </a:r>
            <a:endParaRPr lang="en-GB" dirty="0"/>
          </a:p>
          <a:p>
            <a:pPr marL="594360" lvl="1" indent="-251460">
              <a:lnSpc>
                <a:spcPct val="150000"/>
              </a:lnSpc>
              <a:buFont typeface="Courier New" panose="020B0604020202020204" pitchFamily="34" charset="0"/>
              <a:buChar char="o"/>
            </a:pPr>
            <a:r>
              <a:rPr lang="en-GB" sz="2000" dirty="0">
                <a:cs typeface="Arial"/>
              </a:rPr>
              <a:t>“Safe” delete only works if the branch is already merged</a:t>
            </a:r>
            <a:endParaRPr lang="en-GB" dirty="0"/>
          </a:p>
          <a:p>
            <a:pPr marL="594360" lvl="1" indent="-251460">
              <a:lnSpc>
                <a:spcPct val="150000"/>
              </a:lnSpc>
              <a:buFont typeface="Courier New" panose="020B0604020202020204" pitchFamily="34" charset="0"/>
              <a:buChar char="o"/>
            </a:pPr>
            <a:r>
              <a:rPr lang="en-GB" sz="2000" dirty="0">
                <a:cs typeface="Arial"/>
              </a:rPr>
              <a:t>Force delete removes it even if unmerged</a:t>
            </a:r>
            <a:endParaRPr lang="en-GB" dirty="0"/>
          </a:p>
          <a:p>
            <a:pPr marL="342900" indent="-342900">
              <a:lnSpc>
                <a:spcPct val="150000"/>
              </a:lnSpc>
            </a:pPr>
            <a:r>
              <a:rPr lang="en-GB" sz="2000" b="1" dirty="0">
                <a:solidFill>
                  <a:schemeClr val="accent1"/>
                </a:solidFill>
                <a:cs typeface="Arial"/>
              </a:rPr>
              <a:t>Remote‑tracking branch </a:t>
            </a:r>
            <a:r>
              <a:rPr lang="en-GB" sz="2000" dirty="0">
                <a:cs typeface="Arial"/>
              </a:rPr>
              <a:t>(local reference):</a:t>
            </a:r>
            <a:endParaRPr lang="en-GB" dirty="0"/>
          </a:p>
          <a:p>
            <a:pPr marL="594360" lvl="1" indent="-251460">
              <a:lnSpc>
                <a:spcPct val="150000"/>
              </a:lnSpc>
              <a:buFont typeface="Courier New" panose="020B0604020202020204" pitchFamily="34" charset="0"/>
              <a:buChar char="o"/>
            </a:pPr>
            <a:r>
              <a:rPr lang="en-GB" sz="2000" dirty="0">
                <a:cs typeface="Arial"/>
              </a:rPr>
              <a:t>Cleans up stale local references to branches deleted on GitLab</a:t>
            </a:r>
            <a:endParaRPr lang="en-GB" dirty="0"/>
          </a:p>
          <a:p>
            <a:pPr marL="594360" lvl="1" indent="-251460">
              <a:lnSpc>
                <a:spcPct val="150000"/>
              </a:lnSpc>
              <a:buFont typeface="Courier New" panose="020B0604020202020204" pitchFamily="34" charset="0"/>
              <a:buChar char="o"/>
            </a:pPr>
            <a:r>
              <a:rPr lang="en-GB" sz="2000" dirty="0">
                <a:cs typeface="Arial"/>
              </a:rPr>
              <a:t>Pruning removes multiple obsolete references in one go</a:t>
            </a:r>
            <a:endParaRPr lang="en-GB" dirty="0"/>
          </a:p>
          <a:p>
            <a:pPr marL="342900" indent="-342900">
              <a:lnSpc>
                <a:spcPct val="150000"/>
              </a:lnSpc>
            </a:pP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4755744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54AA17-E2FE-1760-5950-F46688DA7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98538-9129-69D4-7432-662625C55621}"/>
              </a:ext>
            </a:extLst>
          </p:cNvPr>
          <p:cNvSpPr txBox="1">
            <a:spLocks/>
          </p:cNvSpPr>
          <p:nvPr/>
        </p:nvSpPr>
        <p:spPr>
          <a:xfrm>
            <a:off x="1296988" y="3096602"/>
            <a:ext cx="9936162" cy="6647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Git Commands Cheat Sheet</a:t>
            </a:r>
          </a:p>
        </p:txBody>
      </p:sp>
    </p:spTree>
    <p:extLst>
      <p:ext uri="{BB962C8B-B14F-4D97-AF65-F5344CB8AC3E}">
        <p14:creationId xmlns:p14="http://schemas.microsoft.com/office/powerpoint/2010/main" val="5752331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29D72-76C7-64BD-C2F8-EDEE2D1CE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EA650-54FF-08F0-182B-C954D2B4FD18}"/>
              </a:ext>
            </a:extLst>
          </p:cNvPr>
          <p:cNvSpPr txBox="1">
            <a:spLocks/>
          </p:cNvSpPr>
          <p:nvPr/>
        </p:nvSpPr>
        <p:spPr>
          <a:xfrm>
            <a:off x="681037" y="685800"/>
            <a:ext cx="9240838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Git Commands Cheat Sheet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9F05A4-3035-9C5E-BB09-A8828F4A7169}"/>
              </a:ext>
            </a:extLst>
          </p:cNvPr>
          <p:cNvSpPr txBox="1">
            <a:spLocks/>
          </p:cNvSpPr>
          <p:nvPr/>
        </p:nvSpPr>
        <p:spPr>
          <a:xfrm>
            <a:off x="681038" y="1606012"/>
            <a:ext cx="11164887" cy="4163191"/>
          </a:xfrm>
          <a:prstGeom prst="rect">
            <a:avLst/>
          </a:prstGeom>
        </p:spPr>
        <p:txBody>
          <a:bodyPr lIns="0" tIns="0" rIns="0" bIns="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</a:pPr>
            <a:r>
              <a:rPr lang="en-GB" sz="1400" dirty="0">
                <a:solidFill>
                  <a:srgbClr val="008080"/>
                </a:solidFill>
                <a:latin typeface="Arial"/>
                <a:cs typeface="Arial"/>
              </a:rPr>
              <a:t>Status</a:t>
            </a:r>
            <a:r>
              <a:rPr lang="en-GB" sz="1400" dirty="0">
                <a:latin typeface="Arial"/>
                <a:cs typeface="Arial"/>
              </a:rPr>
              <a:t>: Shows the current status of the branch you are on, including any staged or </a:t>
            </a:r>
            <a:r>
              <a:rPr lang="en-GB" sz="1400" dirty="0" err="1">
                <a:latin typeface="Arial"/>
                <a:cs typeface="Arial"/>
              </a:rPr>
              <a:t>unstaged</a:t>
            </a:r>
            <a:r>
              <a:rPr lang="en-GB" sz="1400" dirty="0">
                <a:latin typeface="Arial"/>
                <a:cs typeface="Arial"/>
              </a:rPr>
              <a:t> changes.</a:t>
            </a:r>
            <a:endParaRPr lang="en-US" dirty="0"/>
          </a:p>
          <a:p>
            <a:pPr marL="285750" indent="-285750">
              <a:lnSpc>
                <a:spcPct val="150000"/>
              </a:lnSpc>
            </a:pPr>
            <a:r>
              <a:rPr lang="en-GB" sz="1400" dirty="0">
                <a:solidFill>
                  <a:srgbClr val="008080"/>
                </a:solidFill>
                <a:latin typeface="Arial"/>
                <a:cs typeface="Arial"/>
              </a:rPr>
              <a:t>Fetch</a:t>
            </a:r>
            <a:r>
              <a:rPr lang="en-GB" sz="1400" dirty="0">
                <a:latin typeface="Arial"/>
                <a:cs typeface="Arial"/>
              </a:rPr>
              <a:t>: Updates the entire repository in your local environment, retrieving changes from any branch. However, it doesn't update your local code directly.</a:t>
            </a:r>
            <a:endParaRPr lang="en-GB" dirty="0">
              <a:latin typeface="Arial"/>
              <a:cs typeface="Arial"/>
            </a:endParaRPr>
          </a:p>
          <a:p>
            <a:pPr marL="285750" indent="-285750">
              <a:lnSpc>
                <a:spcPct val="150000"/>
              </a:lnSpc>
            </a:pPr>
            <a:r>
              <a:rPr lang="en-GB" sz="1400" dirty="0">
                <a:solidFill>
                  <a:srgbClr val="008080"/>
                </a:solidFill>
              </a:rPr>
              <a:t>Pull</a:t>
            </a:r>
            <a:r>
              <a:rPr lang="en-GB" sz="1400" dirty="0"/>
              <a:t>: Updates the codebase in your local environment with changes made by others on a specified branch.</a:t>
            </a:r>
          </a:p>
          <a:p>
            <a:pPr marL="285750" indent="-285750">
              <a:lnSpc>
                <a:spcPct val="150000"/>
              </a:lnSpc>
            </a:pPr>
            <a:r>
              <a:rPr lang="en-GB" sz="1400" dirty="0">
                <a:solidFill>
                  <a:srgbClr val="008080"/>
                </a:solidFill>
              </a:rPr>
              <a:t>Add/Stage</a:t>
            </a:r>
            <a:r>
              <a:rPr lang="en-GB" sz="1400" dirty="0"/>
              <a:t>: After making changes, you need to stage them to prepare for committing.</a:t>
            </a:r>
          </a:p>
          <a:p>
            <a:pPr marL="285750" indent="-285750">
              <a:lnSpc>
                <a:spcPct val="150000"/>
              </a:lnSpc>
            </a:pPr>
            <a:r>
              <a:rPr lang="en-GB" sz="1400" dirty="0">
                <a:solidFill>
                  <a:srgbClr val="008080"/>
                </a:solidFill>
              </a:rPr>
              <a:t>Commit</a:t>
            </a:r>
            <a:r>
              <a:rPr lang="en-GB" sz="1400" dirty="0"/>
              <a:t>: Once staged, commit your changes to the branch, including a descriptive commit message outlining the modifications.</a:t>
            </a:r>
          </a:p>
          <a:p>
            <a:pPr marL="285750" indent="-285750">
              <a:lnSpc>
                <a:spcPct val="150000"/>
              </a:lnSpc>
            </a:pPr>
            <a:r>
              <a:rPr lang="en-GB" sz="1400" dirty="0">
                <a:solidFill>
                  <a:srgbClr val="008080"/>
                </a:solidFill>
              </a:rPr>
              <a:t>Push</a:t>
            </a:r>
            <a:r>
              <a:rPr lang="en-GB" sz="1400" dirty="0"/>
              <a:t>: Your changes to update the branch in GitLab. These changes will be visible to other users when they pull the branch.</a:t>
            </a:r>
          </a:p>
          <a:p>
            <a:pPr marL="285750" indent="-285750">
              <a:lnSpc>
                <a:spcPct val="150000"/>
              </a:lnSpc>
            </a:pPr>
            <a:r>
              <a:rPr lang="en-GB" sz="1400" i="1" dirty="0">
                <a:solidFill>
                  <a:srgbClr val="008080"/>
                </a:solidFill>
              </a:rPr>
              <a:t>Merge</a:t>
            </a:r>
            <a:r>
              <a:rPr lang="en-GB" sz="1400" i="1" dirty="0"/>
              <a:t>: Merging is done in GitLab when you want to integrate changes from a feature branch into the dev branch.</a:t>
            </a:r>
          </a:p>
          <a:p>
            <a:pPr marL="285750" indent="-285750">
              <a:lnSpc>
                <a:spcPct val="150000"/>
              </a:lnSpc>
            </a:pPr>
            <a:r>
              <a:rPr lang="en-GB" sz="1400" dirty="0">
                <a:latin typeface="Arial"/>
                <a:cs typeface="Arial"/>
              </a:rPr>
              <a:t>More Git commands can be found here: </a:t>
            </a:r>
            <a:r>
              <a:rPr lang="en-GB" sz="1400" dirty="0">
                <a:latin typeface="Arial"/>
                <a:cs typeface="Arial"/>
                <a:hlinkClick r:id="rId2"/>
              </a:rPr>
              <a:t>https://git-scm.com/cheat-sheet</a:t>
            </a:r>
            <a:r>
              <a:rPr lang="en-GB" sz="1400" dirty="0">
                <a:latin typeface="Arial"/>
                <a:cs typeface="Arial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820969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824C6B-4F45-6EE7-494E-8564D8580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AEB55-E52B-90FA-E4BB-D434EB70D329}"/>
              </a:ext>
            </a:extLst>
          </p:cNvPr>
          <p:cNvSpPr txBox="1">
            <a:spLocks/>
          </p:cNvSpPr>
          <p:nvPr/>
        </p:nvSpPr>
        <p:spPr>
          <a:xfrm>
            <a:off x="1296988" y="3096602"/>
            <a:ext cx="9936162" cy="6647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>
                <a:cs typeface="Arial"/>
              </a:rPr>
              <a:t>Other Commands</a:t>
            </a:r>
          </a:p>
        </p:txBody>
      </p:sp>
    </p:spTree>
    <p:extLst>
      <p:ext uri="{BB962C8B-B14F-4D97-AF65-F5344CB8AC3E}">
        <p14:creationId xmlns:p14="http://schemas.microsoft.com/office/powerpoint/2010/main" val="279494132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DC20BF-BAB3-EDAA-991A-4405E595F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86A02-5B5B-D7E7-99AD-7E6AEC583790}"/>
              </a:ext>
            </a:extLst>
          </p:cNvPr>
          <p:cNvSpPr txBox="1">
            <a:spLocks/>
          </p:cNvSpPr>
          <p:nvPr/>
        </p:nvSpPr>
        <p:spPr>
          <a:xfrm>
            <a:off x="681037" y="685800"/>
            <a:ext cx="9240838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>
                <a:cs typeface="Arial"/>
              </a:rPr>
              <a:t>Other Commands Cheat Sheet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1E9CE9-016F-6C30-4BFF-0A79A161C98C}"/>
              </a:ext>
            </a:extLst>
          </p:cNvPr>
          <p:cNvSpPr txBox="1">
            <a:spLocks/>
          </p:cNvSpPr>
          <p:nvPr/>
        </p:nvSpPr>
        <p:spPr>
          <a:xfrm>
            <a:off x="681038" y="1606012"/>
            <a:ext cx="11164887" cy="4435973"/>
          </a:xfrm>
          <a:prstGeom prst="rect">
            <a:avLst/>
          </a:prstGeom>
        </p:spPr>
        <p:txBody>
          <a:bodyPr lIns="0" tIns="0" rIns="0" bIns="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</a:pPr>
            <a:r>
              <a:rPr lang="en-GB" sz="1400" dirty="0">
                <a:latin typeface="Arial"/>
                <a:cs typeface="Arial"/>
              </a:rPr>
              <a:t>Navigation:</a:t>
            </a:r>
            <a:endParaRPr lang="en-GB" sz="1400" dirty="0"/>
          </a:p>
          <a:p>
            <a:pPr marL="537210" lvl="1" indent="-251460">
              <a:lnSpc>
                <a:spcPct val="150000"/>
              </a:lnSpc>
              <a:buFont typeface="Courier New" panose="020B0604020202020204" pitchFamily="34" charset="0"/>
              <a:buChar char="o"/>
            </a:pPr>
            <a:r>
              <a:rPr lang="en-GB" sz="1400" b="1" dirty="0">
                <a:latin typeface="Arial"/>
                <a:cs typeface="Arial"/>
              </a:rPr>
              <a:t>cd </a:t>
            </a:r>
            <a:r>
              <a:rPr lang="en-GB" sz="1400" dirty="0">
                <a:latin typeface="Arial"/>
                <a:cs typeface="Arial"/>
              </a:rPr>
              <a:t>– Change directory (move between folders)</a:t>
            </a:r>
            <a:endParaRPr lang="en-GB" dirty="0">
              <a:latin typeface="Arial"/>
              <a:cs typeface="Arial"/>
            </a:endParaRPr>
          </a:p>
          <a:p>
            <a:pPr marL="537210" lvl="1" indent="-251460">
              <a:lnSpc>
                <a:spcPct val="150000"/>
              </a:lnSpc>
              <a:buFont typeface="Courier New" panose="020B0604020202020204" pitchFamily="34" charset="0"/>
              <a:buChar char="o"/>
            </a:pPr>
            <a:r>
              <a:rPr lang="en-GB" sz="1400" b="1" dirty="0">
                <a:latin typeface="Arial"/>
                <a:cs typeface="Arial"/>
              </a:rPr>
              <a:t>cd ..</a:t>
            </a:r>
            <a:r>
              <a:rPr lang="en-GB" sz="1400" dirty="0">
                <a:latin typeface="Arial"/>
                <a:cs typeface="Arial"/>
              </a:rPr>
              <a:t> – Go up one level</a:t>
            </a:r>
            <a:endParaRPr lang="en-GB" dirty="0">
              <a:latin typeface="Arial"/>
              <a:cs typeface="Arial"/>
            </a:endParaRPr>
          </a:p>
          <a:p>
            <a:pPr marL="537210" lvl="1" indent="-251460">
              <a:lnSpc>
                <a:spcPct val="150000"/>
              </a:lnSpc>
              <a:buFont typeface="Courier New" panose="020B0604020202020204" pitchFamily="34" charset="0"/>
              <a:buChar char="o"/>
            </a:pPr>
            <a:r>
              <a:rPr lang="en-GB" sz="1400" b="1" dirty="0" err="1">
                <a:latin typeface="Arial"/>
                <a:cs typeface="Arial"/>
              </a:rPr>
              <a:t>dir</a:t>
            </a:r>
            <a:r>
              <a:rPr lang="en-GB" sz="1400" b="1" dirty="0">
                <a:latin typeface="Arial"/>
                <a:cs typeface="Arial"/>
              </a:rPr>
              <a:t> </a:t>
            </a:r>
            <a:r>
              <a:rPr lang="en-GB" sz="1400" dirty="0">
                <a:latin typeface="Arial"/>
                <a:cs typeface="Arial"/>
              </a:rPr>
              <a:t>(or ls) – List files and folders</a:t>
            </a:r>
            <a:endParaRPr lang="en-GB" dirty="0">
              <a:latin typeface="Arial"/>
              <a:cs typeface="Arial"/>
            </a:endParaRPr>
          </a:p>
          <a:p>
            <a:pPr marL="537210" lvl="1" indent="-251460">
              <a:lnSpc>
                <a:spcPct val="150000"/>
              </a:lnSpc>
              <a:buFont typeface="Courier New" panose="020B0604020202020204" pitchFamily="34" charset="0"/>
              <a:buChar char="o"/>
            </a:pPr>
            <a:r>
              <a:rPr lang="en-GB" sz="1400" b="1" dirty="0" err="1">
                <a:latin typeface="Arial"/>
                <a:cs typeface="Arial"/>
              </a:rPr>
              <a:t>pwd</a:t>
            </a:r>
            <a:r>
              <a:rPr lang="en-GB" sz="1400" b="1" dirty="0">
                <a:latin typeface="Arial"/>
                <a:cs typeface="Arial"/>
              </a:rPr>
              <a:t> </a:t>
            </a:r>
            <a:r>
              <a:rPr lang="en-GB" sz="1400" dirty="0">
                <a:latin typeface="Arial"/>
                <a:cs typeface="Arial"/>
              </a:rPr>
              <a:t>– Show current directory location</a:t>
            </a:r>
            <a:endParaRPr lang="en-GB" dirty="0">
              <a:latin typeface="Arial"/>
              <a:cs typeface="Arial"/>
            </a:endParaRPr>
          </a:p>
          <a:p>
            <a:pPr marL="285750" indent="-285750">
              <a:lnSpc>
                <a:spcPct val="150000"/>
              </a:lnSpc>
            </a:pPr>
            <a:r>
              <a:rPr lang="en-GB" sz="1400" dirty="0">
                <a:latin typeface="Arial"/>
                <a:cs typeface="Arial"/>
              </a:rPr>
              <a:t>Housekeeping:</a:t>
            </a:r>
            <a:endParaRPr lang="en-GB" sz="1400" dirty="0"/>
          </a:p>
          <a:p>
            <a:pPr marL="537210" lvl="1" indent="-251460">
              <a:lnSpc>
                <a:spcPct val="150000"/>
              </a:lnSpc>
              <a:buFont typeface="Courier New" panose="020B0604020202020204" pitchFamily="34" charset="0"/>
              <a:buChar char="o"/>
            </a:pPr>
            <a:r>
              <a:rPr lang="en-GB" sz="1400" b="1" dirty="0" err="1">
                <a:latin typeface="Arial"/>
                <a:cs typeface="Arial"/>
              </a:rPr>
              <a:t>cls</a:t>
            </a:r>
            <a:r>
              <a:rPr lang="en-GB" sz="1400" b="1" dirty="0">
                <a:latin typeface="Arial"/>
                <a:cs typeface="Arial"/>
              </a:rPr>
              <a:t> </a:t>
            </a:r>
            <a:r>
              <a:rPr lang="en-GB" sz="1400" dirty="0">
                <a:latin typeface="Arial"/>
                <a:cs typeface="Arial"/>
              </a:rPr>
              <a:t>– Clear the terminal screen</a:t>
            </a:r>
            <a:endParaRPr lang="en-GB" dirty="0">
              <a:latin typeface="Arial"/>
              <a:cs typeface="Arial"/>
            </a:endParaRPr>
          </a:p>
          <a:p>
            <a:pPr marL="537210" lvl="1" indent="-251460">
              <a:lnSpc>
                <a:spcPct val="150000"/>
              </a:lnSpc>
              <a:buFont typeface="Courier New" panose="020B0604020202020204" pitchFamily="34" charset="0"/>
              <a:buChar char="o"/>
            </a:pPr>
            <a:r>
              <a:rPr lang="en-GB" sz="1400" b="1" dirty="0">
                <a:latin typeface="Arial"/>
                <a:cs typeface="Arial"/>
              </a:rPr>
              <a:t>Tab key</a:t>
            </a:r>
            <a:r>
              <a:rPr lang="en-GB" sz="1400" dirty="0">
                <a:latin typeface="Arial"/>
                <a:cs typeface="Arial"/>
              </a:rPr>
              <a:t> – Auto‑complete paths and filenames</a:t>
            </a:r>
            <a:endParaRPr lang="en-GB" dirty="0">
              <a:latin typeface="Arial"/>
              <a:cs typeface="Arial"/>
            </a:endParaRPr>
          </a:p>
          <a:p>
            <a:pPr marL="537210" lvl="1" indent="-251460">
              <a:lnSpc>
                <a:spcPct val="150000"/>
              </a:lnSpc>
              <a:buFont typeface="Courier New" panose="020B0604020202020204" pitchFamily="34" charset="0"/>
              <a:buChar char="o"/>
            </a:pPr>
            <a:r>
              <a:rPr lang="en-GB" sz="1400" b="1" dirty="0">
                <a:latin typeface="Arial"/>
                <a:cs typeface="Arial"/>
              </a:rPr>
              <a:t>Up arrow</a:t>
            </a:r>
            <a:r>
              <a:rPr lang="en-GB" sz="1400" dirty="0">
                <a:latin typeface="Arial"/>
                <a:cs typeface="Arial"/>
              </a:rPr>
              <a:t> – Cycle through previous commands</a:t>
            </a:r>
            <a:endParaRPr lang="en-GB" dirty="0">
              <a:latin typeface="Arial"/>
              <a:cs typeface="Arial"/>
            </a:endParaRPr>
          </a:p>
          <a:p>
            <a:pPr marL="285750" indent="-285750">
              <a:lnSpc>
                <a:spcPct val="150000"/>
              </a:lnSpc>
            </a:pPr>
            <a:r>
              <a:rPr lang="en-GB" sz="1400" dirty="0">
                <a:latin typeface="Arial"/>
                <a:cs typeface="Arial"/>
              </a:rPr>
              <a:t>Key Point:</a:t>
            </a:r>
            <a:endParaRPr lang="en-GB" dirty="0"/>
          </a:p>
          <a:p>
            <a:pPr marL="537210" lvl="1" indent="-251460">
              <a:lnSpc>
                <a:spcPct val="150000"/>
              </a:lnSpc>
              <a:buFont typeface="Courier New" panose="020B0604020202020204" pitchFamily="34" charset="0"/>
              <a:buChar char="o"/>
            </a:pPr>
            <a:r>
              <a:rPr lang="en-GB" sz="1400" dirty="0">
                <a:latin typeface="Arial"/>
                <a:cs typeface="Arial"/>
              </a:rPr>
              <a:t>These commands help you navigate the repo.</a:t>
            </a:r>
            <a:endParaRPr lang="en-GB" dirty="0">
              <a:latin typeface="Arial"/>
              <a:cs typeface="Arial"/>
            </a:endParaRPr>
          </a:p>
          <a:p>
            <a:pPr marL="285750" indent="-285750">
              <a:lnSpc>
                <a:spcPct val="150000"/>
              </a:lnSpc>
            </a:pP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38162573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9af038e-07b4-4369-a678-c835687cb272}" enabled="1" method="Standard" siteId="{ac52f73c-fd1a-4a9a-8e7a-4a248f3139e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1543</Words>
  <Application>Microsoft Office PowerPoint</Application>
  <PresentationFormat>Widescreen</PresentationFormat>
  <Paragraphs>172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Aptos</vt:lpstr>
      <vt:lpstr>Aptos Display</vt:lpstr>
      <vt:lpstr>Arial</vt:lpstr>
      <vt:lpstr>Courier New</vt:lpstr>
      <vt:lpstr>Office Theme</vt:lpstr>
      <vt:lpstr>GitLab Introduction Walkthrough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Fratamico, Antonio (HMRC Customer Experience Directorate)</dc:creator>
  <cp:lastModifiedBy>Fratamico, Antonio (HMRC Customer Experience Directorate)</cp:lastModifiedBy>
  <cp:revision>1</cp:revision>
  <dcterms:created xsi:type="dcterms:W3CDTF">2026-06-29T08:35:19Z</dcterms:created>
  <dcterms:modified xsi:type="dcterms:W3CDTF">2026-06-29T11:33:21Z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Theme:8</vt:lpwstr>
  </property>
  <property fmtid="{D5CDD505-2E9C-101B-9397-08002B2CF9AE}" pid="3" name="ClassificationContentMarkingFooterText">
    <vt:lpwstr>OFFICIAL</vt:lpwstr>
  </property>
</Properties>
</file>